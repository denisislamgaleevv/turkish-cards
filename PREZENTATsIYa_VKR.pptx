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2" r:id="rId1"/>
  </p:sldMasterIdLst>
  <p:notesMasterIdLst>
    <p:notesMasterId r:id="rId20"/>
  </p:notesMasterIdLst>
  <p:sldIdLst>
    <p:sldId id="256" r:id="rId2"/>
    <p:sldId id="304" r:id="rId3"/>
    <p:sldId id="258" r:id="rId4"/>
    <p:sldId id="259" r:id="rId5"/>
    <p:sldId id="261" r:id="rId6"/>
    <p:sldId id="262" r:id="rId7"/>
    <p:sldId id="279" r:id="rId8"/>
    <p:sldId id="285" r:id="rId9"/>
    <p:sldId id="290" r:id="rId10"/>
    <p:sldId id="297" r:id="rId11"/>
    <p:sldId id="300" r:id="rId12"/>
    <p:sldId id="301" r:id="rId13"/>
    <p:sldId id="302" r:id="rId14"/>
    <p:sldId id="303" r:id="rId15"/>
    <p:sldId id="270" r:id="rId16"/>
    <p:sldId id="274" r:id="rId17"/>
    <p:sldId id="305" r:id="rId18"/>
    <p:sldId id="291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3BFF"/>
    <a:srgbClr val="A771FF"/>
    <a:srgbClr val="5300D6"/>
    <a:srgbClr val="433078"/>
    <a:srgbClr val="90C226"/>
    <a:srgbClr val="DAD4F0"/>
    <a:srgbClr val="FAFCF8"/>
    <a:srgbClr val="DBE9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291" autoAdjust="0"/>
  </p:normalViewPr>
  <p:slideViewPr>
    <p:cSldViewPr snapToGrid="0">
      <p:cViewPr>
        <p:scale>
          <a:sx n="100" d="100"/>
          <a:sy n="100" d="100"/>
        </p:scale>
        <p:origin x="98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C8733-A37A-42C8-9141-497D1DF11359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5F966-D6CD-44DE-AE06-3E26750C3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696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F5F966-D6CD-44DE-AE06-3E26750C36D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6035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F5F966-D6CD-44DE-AE06-3E26750C36D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705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F5F966-D6CD-44DE-AE06-3E26750C36D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200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F5F966-D6CD-44DE-AE06-3E26750C36D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996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F5F966-D6CD-44DE-AE06-3E26750C36D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4787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F5F966-D6CD-44DE-AE06-3E26750C36D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945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9D74F-E370-410E-B5C9-51C850F5F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CF88AD-A524-4560-B327-ACDC11D3C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BBA7A3-C35C-433A-9F29-6F0C501C7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33A00-056B-4C67-9D2C-4D58E287E95D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C3A46F-8EA8-4412-9157-DAB500936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6F4A91-F240-425C-9BAA-30AADD50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52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2DB90-5877-4D86-B330-36DAE2E99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295C9F-AF81-4205-9465-9AC938D9B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9E222C-FC58-4E6E-BA11-2BB330A7E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5AF6-4066-4158-8E93-6FEE5AE43725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64FB6A-8CEA-4709-B49A-DE829A84B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09BDE1-0386-4B86-AD1E-2DC08F5B7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991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0CF16C-BA81-4839-923D-710DB3132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6007DD-E449-4CF0-A2FF-08111C24A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4930ED-1888-46CF-8887-A05FEDD79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6BF12-ABB3-4CD0-9651-940B786F3C5F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709339-2070-4A43-B778-62DAD9C8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B14A02-CA31-4A71-989B-AA39B36E7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68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6EA6CD-5E4C-4D3A-814F-F4FAEE3C6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836F61-A8C9-4D5B-8E14-8DEBDB902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6345FC-889B-40EF-932C-686ABD79E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90EEA3-A30D-4EBE-927B-DAC9D422F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9F6D-F0E2-4B8B-98D6-1534035DAAFE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C9058A-9FB2-4AD5-8DAA-D23F2CF9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42CFBF-2BF4-4F5D-A0CE-8A9221510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595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CA5068-36EE-45F5-A04B-6492BB4E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5BE629-2D48-45BD-96E4-205DC598D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503BC2-0CA8-4ACC-B05E-DF9770313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D1C2621-8061-49BA-863B-88E02B0E3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4B0B50-D758-4382-9C96-8C5A2B38F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991D2CE-895F-4434-A294-15407014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1E1BB-F801-4753-AA88-649E52FE3597}" type="datetime1">
              <a:rPr lang="ru-RU" smtClean="0"/>
              <a:t>28.05.2026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D85E784-29D4-428E-9C3C-53709BF22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C01828E-7EC4-4684-AFD2-397ED0CC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685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4B801-E226-4844-86F3-8EB1B6782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964F26D-199F-45D9-932E-9BB6492A2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5543-BAD8-4614-BE21-AD18A4BFF88B}" type="datetime1">
              <a:rPr lang="ru-RU" smtClean="0"/>
              <a:t>28.05.2026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C8242EE-308D-49D9-9286-03D329A51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393FAC7-E195-43D5-82A5-3C98E1B9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418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3D35AB3-E9D1-4C64-96C5-AAEC1FD05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5F24A-3473-4E59-BD5E-FFC7551C2844}" type="datetime1">
              <a:rPr lang="ru-RU" smtClean="0"/>
              <a:t>28.05.2026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273BFB-543B-483E-97EA-C3F84C267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E850CFA-89D8-4E7A-9FC7-1B0F341B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1339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706023-3E4C-497C-B6C1-75530E2B1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108F63-66B5-450D-A3A9-2C3B78C99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D9F7C25-F485-4AA1-8B5E-5FB778FCE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8FD304-9DC0-45F4-ACA1-BF7809C82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326-E35E-401F-B8B2-76B6182292B0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2451DB-D06F-4AE2-B672-BF43DDFA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8784AD-50EE-4971-9C65-8A873C0AF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178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2395F2-73FC-49BA-817C-2B92D0D6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D30E08A-7F0D-4D7D-8091-86C8FEF95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AF82686-92F2-4809-8BCD-E793AA848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0BCE28-C1DF-43EC-9C2F-5A54B2B88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B00E0-643B-4F7D-B46A-C806ED1FEFD9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C9F425-942B-4E5D-8004-6F731FBB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013C6E-18F0-4445-ACE6-3CF58826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23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6369A-6728-49AA-9D06-A28D450EF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58D67F6-5CBA-4C12-9635-D48B1B05F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DB5507-9D8C-429D-93DE-BFD545B9B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96F9-287C-462F-AB7F-5ECE4DC1D331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D316C4-A8FB-42AF-B392-31BD07216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513E81-1411-4956-8043-34B878FC7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56FED07-C81E-4864-90FB-83C20B10F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2CAD97-2C1D-4F74-8AD1-D5967FBC0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EC725E-16FD-41BD-956B-B09A2C14F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86AF7-5E27-45CE-A58A-699F06629583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50DC32-86F2-441B-8DE5-932EE3913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44B8B4-A0E6-408C-BF6D-C8CAA069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038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064894-6C56-4E0D-83BF-677AECEB2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6147AE-B15E-41F9-A55A-15825F2F2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448AE7-65A5-4CB6-9DB0-5DD7C747D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A33B0-2C98-4A08-856E-B328FE023966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8DCA2A-8247-44C6-A670-4C204863C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91D8C9-9954-4838-A51D-81DB9AE6AF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B9FF3-F316-408B-A4B3-007717F80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841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9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E71E40-528B-482F-B8CE-68037404F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2332" y="2329962"/>
            <a:ext cx="9567334" cy="1385820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Математическое </a:t>
            </a:r>
            <a:r>
              <a:rPr lang="ru-RU" sz="32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программное обеспечение для автоматической интерпретации геофизических исследований скважин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0B5EEF1-7F5B-41D6-9C95-18231A0705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5638" y="5076022"/>
            <a:ext cx="3810955" cy="1524804"/>
          </a:xfrm>
        </p:spPr>
        <p:txBody>
          <a:bodyPr>
            <a:normAutofit/>
          </a:bodyPr>
          <a:lstStyle/>
          <a:p>
            <a:pPr algn="l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 студент группы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МО-МОВКС-202М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Исламгалеев</a:t>
            </a:r>
            <a:r>
              <a:rPr lang="ru-RU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Д.Р.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к.т.н., доц. каф. ВМиК</a:t>
            </a:r>
          </a:p>
          <a:p>
            <a:pPr algn="l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Сазонова Е.Ю.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029E9F9-5F38-9B8B-E57A-70DE8CA5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59" y="162548"/>
            <a:ext cx="1507434" cy="3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89617A76-AAE0-4D25-BF19-71E8E3242B01}"/>
              </a:ext>
            </a:extLst>
          </p:cNvPr>
          <p:cNvSpPr txBox="1">
            <a:spLocks/>
          </p:cNvSpPr>
          <p:nvPr/>
        </p:nvSpPr>
        <p:spPr>
          <a:xfrm>
            <a:off x="1748632" y="136253"/>
            <a:ext cx="8694735" cy="387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ФГБОУ ВО «Уфимский университет науки и технологий»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D4F669-EE20-81DF-EA7A-9B2DFC6DD3CC}"/>
              </a:ext>
            </a:extLst>
          </p:cNvPr>
          <p:cNvSpPr txBox="1"/>
          <p:nvPr/>
        </p:nvSpPr>
        <p:spPr>
          <a:xfrm>
            <a:off x="3048415" y="505450"/>
            <a:ext cx="6095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вычислительной математики и кибернетики</a:t>
            </a:r>
          </a:p>
        </p:txBody>
      </p:sp>
    </p:spTree>
    <p:extLst>
      <p:ext uri="{BB962C8B-B14F-4D97-AF65-F5344CB8AC3E}">
        <p14:creationId xmlns:p14="http://schemas.microsoft.com/office/powerpoint/2010/main" val="173012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4769"/>
            <a:ext cx="12192000" cy="45719"/>
          </a:xfrm>
          <a:prstGeom prst="rect">
            <a:avLst/>
          </a:prstGeom>
          <a:solidFill>
            <a:srgbClr val="5300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10" name="TextBox 13"/>
          <p:cNvSpPr txBox="1"/>
          <p:nvPr/>
        </p:nvSpPr>
        <p:spPr>
          <a:xfrm>
            <a:off x="106356" y="623266"/>
            <a:ext cx="611233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5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85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85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85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85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85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85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85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85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lvl="2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условиях стремительной цифровой трансформации и роста требований к производительности труда внедрение технологий искусственного интеллекта и автоматизации становится ключевым фактором конкурентоспособности.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периметре компании Роснефть, где в ПК РН-ПЕТРОЛОГ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ежегодно проводятся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4800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исследований скважин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больше </a:t>
            </a:r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 общего количества),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процессов интерпретации данных и анализа позволяет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кратно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более чем 3 раза)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сократить время на каждое исследование, высвободить человеческие ресурсы для решения более сложных задач и значительно оптимизировать расходы на персонал и программное обеспечение.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A823B2-B6D8-4CE1-8D73-E699C2FDCDB6}"/>
              </a:ext>
            </a:extLst>
          </p:cNvPr>
          <p:cNvSpPr txBox="1"/>
          <p:nvPr/>
        </p:nvSpPr>
        <p:spPr>
          <a:xfrm>
            <a:off x="6886598" y="3805660"/>
            <a:ext cx="51385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РН-ПЕТРОЛОГ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2691F998-C142-4817-95F5-745A4ACD8C29}"/>
              </a:ext>
            </a:extLst>
          </p:cNvPr>
          <p:cNvSpPr txBox="1">
            <a:spLocks/>
          </p:cNvSpPr>
          <p:nvPr/>
        </p:nvSpPr>
        <p:spPr>
          <a:xfrm>
            <a:off x="106356" y="-3330"/>
            <a:ext cx="8596668" cy="6265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smtClean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endParaRPr lang="ru-RU" sz="2800" b="1" dirty="0">
              <a:solidFill>
                <a:srgbClr val="5300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696" y="701612"/>
            <a:ext cx="5526495" cy="3104048"/>
          </a:xfrm>
          <a:prstGeom prst="rect">
            <a:avLst/>
          </a:prstGeom>
        </p:spPr>
      </p:pic>
      <p:pic>
        <p:nvPicPr>
          <p:cNvPr id="20" name="Picture 9" descr="\\unipi-fs-1\dfs\БлокНТР\СИ\СИ ППО в ГиР\_Дизайн-макеты\Хранилище макетов\Логотипы ПО\Все логотипы\_1Логотипы ВСЕ 2020\ПЕТРОЛОГ.png">
            <a:extLst>
              <a:ext uri="{FF2B5EF4-FFF2-40B4-BE49-F238E27FC236}">
                <a16:creationId xmlns:a16="http://schemas.microsoft.com/office/drawing/2014/main" id="{68F632E5-AC4E-4901-AC6C-9B9A24D57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4601" y="1227156"/>
            <a:ext cx="1142687" cy="48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Прямоугольник: скругленные углы 101">
            <a:extLst>
              <a:ext uri="{FF2B5EF4-FFF2-40B4-BE49-F238E27FC236}">
                <a16:creationId xmlns:a16="http://schemas.microsoft.com/office/drawing/2014/main" id="{EE656441-BA58-4278-90A3-F3F2C2150B00}"/>
              </a:ext>
            </a:extLst>
          </p:cNvPr>
          <p:cNvSpPr/>
          <p:nvPr/>
        </p:nvSpPr>
        <p:spPr>
          <a:xfrm>
            <a:off x="182891" y="3772745"/>
            <a:ext cx="4040099" cy="585722"/>
          </a:xfrm>
          <a:prstGeom prst="roundRect">
            <a:avLst>
              <a:gd name="adj" fmla="val 1235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sz="1600" b="1" dirty="0">
                <a:solidFill>
                  <a:srgbClr val="5300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АВТОМАТИЗИРОВАННАЯ СИСТЕМА ПОПОЛНЕНИЯ РЕСУРСНОЙ БАЗЫ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8568CB5-15A2-4BFF-A72C-79368076BD05}"/>
              </a:ext>
            </a:extLst>
          </p:cNvPr>
          <p:cNvSpPr txBox="1"/>
          <p:nvPr/>
        </p:nvSpPr>
        <p:spPr>
          <a:xfrm>
            <a:off x="1266847" y="5064815"/>
            <a:ext cx="17752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Подсчет запасов по месторождениям и ЛУ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1EAE664-264E-437C-9398-5D7F53DD4AD6}"/>
              </a:ext>
            </a:extLst>
          </p:cNvPr>
          <p:cNvSpPr txBox="1"/>
          <p:nvPr/>
        </p:nvSpPr>
        <p:spPr>
          <a:xfrm>
            <a:off x="3201995" y="5688069"/>
            <a:ext cx="1860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Алгоритмы, методики </a:t>
            </a: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</a:t>
            </a:r>
            <a:r>
              <a:rPr lang="ru-RU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параметры моделей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0191194-DFDE-4A46-B4A7-FFE306F3240B}"/>
              </a:ext>
            </a:extLst>
          </p:cNvPr>
          <p:cNvSpPr txBox="1"/>
          <p:nvPr/>
        </p:nvSpPr>
        <p:spPr>
          <a:xfrm>
            <a:off x="5262158" y="5553666"/>
            <a:ext cx="17752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Автоматическое моделирование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33F1518-B85B-4C29-9738-590E4FA2A614}"/>
              </a:ext>
            </a:extLst>
          </p:cNvPr>
          <p:cNvSpPr txBox="1"/>
          <p:nvPr/>
        </p:nvSpPr>
        <p:spPr>
          <a:xfrm>
            <a:off x="3820871" y="4775850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5300D6"/>
                </a:solidFill>
              </a:rPr>
              <a:t>Ai</a:t>
            </a:r>
            <a:endParaRPr lang="ru-RU" b="1" dirty="0">
              <a:solidFill>
                <a:srgbClr val="5300D6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37AE1D1-D7E0-4707-B358-113170946B77}"/>
              </a:ext>
            </a:extLst>
          </p:cNvPr>
          <p:cNvSpPr txBox="1"/>
          <p:nvPr/>
        </p:nvSpPr>
        <p:spPr>
          <a:xfrm>
            <a:off x="5691492" y="4775850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5300D6"/>
                </a:solidFill>
              </a:rPr>
              <a:t>Ai</a:t>
            </a:r>
            <a:endParaRPr lang="ru-RU" b="1" dirty="0">
              <a:solidFill>
                <a:srgbClr val="5300D6"/>
              </a:solidFill>
            </a:endParaRPr>
          </a:p>
        </p:txBody>
      </p:sp>
      <p:pic>
        <p:nvPicPr>
          <p:cNvPr id="92" name="Рисунок 91">
            <a:extLst>
              <a:ext uri="{FF2B5EF4-FFF2-40B4-BE49-F238E27FC236}">
                <a16:creationId xmlns:a16="http://schemas.microsoft.com/office/drawing/2014/main" id="{6439FFCF-71AA-4110-B211-CA12AE794E1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16845" y="5548179"/>
            <a:ext cx="540000" cy="5400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8F5465EB-51D1-418C-8D55-0A87F8B1E1DB}"/>
              </a:ext>
            </a:extLst>
          </p:cNvPr>
          <p:cNvSpPr txBox="1"/>
          <p:nvPr/>
        </p:nvSpPr>
        <p:spPr>
          <a:xfrm>
            <a:off x="1303600" y="6021449"/>
            <a:ext cx="1802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Данные по ЛУ: структуры, объекты, атрибуты</a:t>
            </a:r>
          </a:p>
        </p:txBody>
      </p: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A58B8C47-283D-4CB8-B81C-02DCF8EAE862}"/>
              </a:ext>
            </a:extLst>
          </p:cNvPr>
          <p:cNvCxnSpPr>
            <a:cxnSpLocks/>
          </p:cNvCxnSpPr>
          <p:nvPr/>
        </p:nvCxnSpPr>
        <p:spPr>
          <a:xfrm>
            <a:off x="4672184" y="5288234"/>
            <a:ext cx="834501" cy="0"/>
          </a:xfrm>
          <a:prstGeom prst="straightConnector1">
            <a:avLst/>
          </a:prstGeom>
          <a:ln>
            <a:solidFill>
              <a:srgbClr val="5300D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C75C02D2-7E92-49A6-9350-A820CB74F1D8}"/>
              </a:ext>
            </a:extLst>
          </p:cNvPr>
          <p:cNvCxnSpPr>
            <a:cxnSpLocks/>
          </p:cNvCxnSpPr>
          <p:nvPr/>
        </p:nvCxnSpPr>
        <p:spPr>
          <a:xfrm>
            <a:off x="2906475" y="5288233"/>
            <a:ext cx="834501" cy="0"/>
          </a:xfrm>
          <a:prstGeom prst="straightConnector1">
            <a:avLst/>
          </a:prstGeom>
          <a:ln>
            <a:solidFill>
              <a:srgbClr val="5300D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Прямая со стрелкой 95">
            <a:extLst>
              <a:ext uri="{FF2B5EF4-FFF2-40B4-BE49-F238E27FC236}">
                <a16:creationId xmlns:a16="http://schemas.microsoft.com/office/drawing/2014/main" id="{3B6EE401-7A07-47FF-813F-C03436635CCA}"/>
              </a:ext>
            </a:extLst>
          </p:cNvPr>
          <p:cNvCxnSpPr>
            <a:cxnSpLocks/>
          </p:cNvCxnSpPr>
          <p:nvPr/>
        </p:nvCxnSpPr>
        <p:spPr>
          <a:xfrm>
            <a:off x="6898720" y="5288233"/>
            <a:ext cx="834501" cy="0"/>
          </a:xfrm>
          <a:prstGeom prst="straightConnector1">
            <a:avLst/>
          </a:prstGeom>
          <a:ln>
            <a:solidFill>
              <a:srgbClr val="5300D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7" name="Соединитель: уступ 111">
            <a:extLst>
              <a:ext uri="{FF2B5EF4-FFF2-40B4-BE49-F238E27FC236}">
                <a16:creationId xmlns:a16="http://schemas.microsoft.com/office/drawing/2014/main" id="{FCA5C05E-982F-49BB-B998-AB8DAD933403}"/>
              </a:ext>
            </a:extLst>
          </p:cNvPr>
          <p:cNvCxnSpPr>
            <a:cxnSpLocks/>
            <a:stCxn id="104" idx="2"/>
            <a:endCxn id="88" idx="2"/>
          </p:cNvCxnSpPr>
          <p:nvPr/>
        </p:nvCxnSpPr>
        <p:spPr>
          <a:xfrm rot="5400000" flipH="1">
            <a:off x="6337518" y="3882718"/>
            <a:ext cx="144900" cy="4555823"/>
          </a:xfrm>
          <a:prstGeom prst="bentConnector3">
            <a:avLst>
              <a:gd name="adj1" fmla="val -157764"/>
            </a:avLst>
          </a:prstGeom>
          <a:ln>
            <a:solidFill>
              <a:srgbClr val="5300D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C8B2F70E-4DE4-4C82-8A37-8668ECF8F12C}"/>
              </a:ext>
            </a:extLst>
          </p:cNvPr>
          <p:cNvSpPr txBox="1"/>
          <p:nvPr/>
        </p:nvSpPr>
        <p:spPr>
          <a:xfrm>
            <a:off x="5165679" y="6459536"/>
            <a:ext cx="17752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Контроль качества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D1434F1-FAAE-4C4F-8B09-D069A1C0B233}"/>
              </a:ext>
            </a:extLst>
          </p:cNvPr>
          <p:cNvSpPr txBox="1"/>
          <p:nvPr/>
        </p:nvSpPr>
        <p:spPr>
          <a:xfrm>
            <a:off x="6849064" y="5787489"/>
            <a:ext cx="824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1" dirty="0">
                <a:solidFill>
                  <a:srgbClr val="5300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1-2 НЕДЕЛИ</a:t>
            </a:r>
          </a:p>
        </p:txBody>
      </p:sp>
      <p:pic>
        <p:nvPicPr>
          <p:cNvPr id="100" name="Рисунок 99">
            <a:extLst>
              <a:ext uri="{FF2B5EF4-FFF2-40B4-BE49-F238E27FC236}">
                <a16:creationId xmlns:a16="http://schemas.microsoft.com/office/drawing/2014/main" id="{B8D0722A-A2EA-46CF-9922-852DED3A3B5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99303" y="4505850"/>
            <a:ext cx="540000" cy="540000"/>
          </a:xfrm>
          <a:prstGeom prst="rect">
            <a:avLst/>
          </a:prstGeom>
        </p:spPr>
      </p:pic>
      <p:pic>
        <p:nvPicPr>
          <p:cNvPr id="101" name="Рисунок 100"/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67084" y="5175536"/>
            <a:ext cx="540000" cy="540000"/>
          </a:xfrm>
          <a:prstGeom prst="rect">
            <a:avLst/>
          </a:prstGeom>
        </p:spPr>
      </p:pic>
      <p:pic>
        <p:nvPicPr>
          <p:cNvPr id="102" name="Рисунок 101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38815" y="5371425"/>
            <a:ext cx="476579" cy="468474"/>
          </a:xfrm>
          <a:prstGeom prst="rect">
            <a:avLst/>
          </a:prstGeom>
        </p:spPr>
      </p:pic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19FE03EA-C8A8-43B1-AC39-DD401C31926B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" t="1114" r="31414" b="1241"/>
          <a:stretch/>
        </p:blipFill>
        <p:spPr>
          <a:xfrm>
            <a:off x="7801947" y="4612436"/>
            <a:ext cx="1738036" cy="1218771"/>
          </a:xfrm>
          <a:prstGeom prst="rect">
            <a:avLst/>
          </a:prstGeom>
          <a:ln>
            <a:noFill/>
          </a:ln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E8C220D5-2844-46B7-ADF2-F560358AE1C1}"/>
              </a:ext>
            </a:extLst>
          </p:cNvPr>
          <p:cNvSpPr txBox="1"/>
          <p:nvPr/>
        </p:nvSpPr>
        <p:spPr>
          <a:xfrm>
            <a:off x="7800238" y="5832969"/>
            <a:ext cx="17752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Обновление интерпретации ГИС</a:t>
            </a:r>
          </a:p>
        </p:txBody>
      </p:sp>
      <p:pic>
        <p:nvPicPr>
          <p:cNvPr id="105" name="Picture 9" descr="\\unipi-fs-1\dfs\БлокНТР\СИ\СИ ППО в ГиР\_Дизайн-макеты\Хранилище макетов\Логотипы ПО\Все логотипы\_1Логотипы ВСЕ 2020\ПЕТРОЛОГ.png">
            <a:extLst>
              <a:ext uri="{FF2B5EF4-FFF2-40B4-BE49-F238E27FC236}">
                <a16:creationId xmlns:a16="http://schemas.microsoft.com/office/drawing/2014/main" id="{68F632E5-AC4E-4901-AC6C-9B9A24D57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187" y="5092751"/>
            <a:ext cx="1142687" cy="48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" name="Соединитель: уступ 134">
            <a:extLst>
              <a:ext uri="{FF2B5EF4-FFF2-40B4-BE49-F238E27FC236}">
                <a16:creationId xmlns:a16="http://schemas.microsoft.com/office/drawing/2014/main" id="{CE3181FB-4279-4B95-9086-2627A5092521}"/>
              </a:ext>
            </a:extLst>
          </p:cNvPr>
          <p:cNvCxnSpPr>
            <a:cxnSpLocks/>
            <a:endCxn id="91" idx="0"/>
          </p:cNvCxnSpPr>
          <p:nvPr/>
        </p:nvCxnSpPr>
        <p:spPr>
          <a:xfrm>
            <a:off x="5347967" y="4412734"/>
            <a:ext cx="533641" cy="363116"/>
          </a:xfrm>
          <a:prstGeom prst="bentConnector2">
            <a:avLst/>
          </a:prstGeom>
          <a:ln>
            <a:solidFill>
              <a:srgbClr val="5300D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B8568CB5-15A2-4BFF-A72C-79368076BD05}"/>
              </a:ext>
            </a:extLst>
          </p:cNvPr>
          <p:cNvSpPr txBox="1"/>
          <p:nvPr/>
        </p:nvSpPr>
        <p:spPr>
          <a:xfrm>
            <a:off x="5266344" y="4163025"/>
            <a:ext cx="17752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Осуществление контроля</a:t>
            </a:r>
            <a:endParaRPr lang="ru-RU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08" name="Соединитель: уступ 134">
            <a:extLst>
              <a:ext uri="{FF2B5EF4-FFF2-40B4-BE49-F238E27FC236}">
                <a16:creationId xmlns:a16="http://schemas.microsoft.com/office/drawing/2014/main" id="{CE3181FB-4279-4B95-9086-2627A5092521}"/>
              </a:ext>
            </a:extLst>
          </p:cNvPr>
          <p:cNvCxnSpPr>
            <a:cxnSpLocks/>
            <a:endCxn id="90" idx="0"/>
          </p:cNvCxnSpPr>
          <p:nvPr/>
        </p:nvCxnSpPr>
        <p:spPr>
          <a:xfrm rot="10800000" flipV="1">
            <a:off x="4010988" y="4430878"/>
            <a:ext cx="607623" cy="344972"/>
          </a:xfrm>
          <a:prstGeom prst="bentConnector2">
            <a:avLst/>
          </a:prstGeom>
          <a:ln>
            <a:solidFill>
              <a:srgbClr val="5300D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09" name="Рисунок 108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921" y="3962468"/>
            <a:ext cx="874640" cy="94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501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0C8FB8-1097-4950-8DA4-A31DBA048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42"/>
            <a:ext cx="8596668" cy="6985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2268C6-7A36-4BB1-A9D6-1F6037447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837" y="884550"/>
            <a:ext cx="11493330" cy="509269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800" b="1" dirty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sz="1800" b="1" dirty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800" b="1" dirty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Разработать математическое и программное обеспечение интеллектуального помощника для автоматической интерпретации геофизических исследований скважин на основе большой языковой модели и технологии RAG в составе приложения РН-</a:t>
            </a:r>
            <a:r>
              <a:rPr lang="ru-RU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Петролог</a:t>
            </a:r>
            <a:r>
              <a:rPr lang="ru-RU" sz="16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800" b="1" dirty="0" smtClean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1800" b="1" dirty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0000"/>
              </a:lnSpc>
              <a:spcBef>
                <a:spcPts val="2100"/>
              </a:spcBef>
            </a:pPr>
            <a:r>
              <a:rPr lang="ru-RU" sz="1600" dirty="0" smtClean="0">
                <a:latin typeface="Times New Roman" panose="02020603050405020304" pitchFamily="18" charset="0"/>
              </a:rPr>
              <a:t>Провести </a:t>
            </a:r>
            <a:r>
              <a:rPr lang="ru-RU" sz="1600" dirty="0">
                <a:latin typeface="Times New Roman" panose="02020603050405020304" pitchFamily="18" charset="0"/>
              </a:rPr>
              <a:t>анализ предметной области интерпретации ГИС</a:t>
            </a:r>
            <a:r>
              <a:rPr lang="ru-RU" sz="1600" dirty="0" smtClean="0">
                <a:latin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100"/>
              </a:spcBef>
            </a:pPr>
            <a:r>
              <a:rPr lang="ru-RU" sz="1600" dirty="0">
                <a:latin typeface="Times New Roman" panose="02020603050405020304" pitchFamily="18" charset="0"/>
              </a:rPr>
              <a:t>Выполнить обзор существующих программных решений</a:t>
            </a:r>
            <a:r>
              <a:rPr lang="ru-RU" sz="1600" dirty="0" smtClean="0">
                <a:latin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100"/>
              </a:spcBef>
            </a:pPr>
            <a:r>
              <a:rPr lang="ru-RU" sz="1600" dirty="0">
                <a:latin typeface="Times New Roman" panose="02020603050405020304" pitchFamily="18" charset="0"/>
              </a:rPr>
              <a:t>Разработать математическое обеспечение поиска релевантной информации в базе знаний (векторное представление документов</a:t>
            </a:r>
            <a:r>
              <a:rPr lang="ru-RU" sz="1600" dirty="0" smtClean="0">
                <a:latin typeface="Times New Roman" panose="02020603050405020304" pitchFamily="18" charset="0"/>
              </a:rPr>
              <a:t>).</a:t>
            </a:r>
            <a:endParaRPr lang="ru-RU" sz="1600" dirty="0">
              <a:latin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100"/>
              </a:spcBef>
            </a:pPr>
            <a:r>
              <a:rPr lang="ru-RU" sz="1600" dirty="0" smtClean="0">
                <a:latin typeface="Times New Roman" panose="02020603050405020304" pitchFamily="18" charset="0"/>
              </a:rPr>
              <a:t>Разработать </a:t>
            </a:r>
            <a:r>
              <a:rPr lang="ru-RU" sz="1600" dirty="0">
                <a:latin typeface="Times New Roman" panose="02020603050405020304" pitchFamily="18" charset="0"/>
              </a:rPr>
              <a:t>алгоритм формирования контекста для LLM с учётом структуры текущего проекта</a:t>
            </a:r>
            <a:r>
              <a:rPr lang="ru-RU" sz="1600" dirty="0" smtClean="0">
                <a:latin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100"/>
              </a:spcBef>
            </a:pPr>
            <a:r>
              <a:rPr lang="ru-RU" sz="1600" dirty="0">
                <a:latin typeface="Times New Roman" panose="02020603050405020304" pitchFamily="18" charset="0"/>
              </a:rPr>
              <a:t>Разработать программное обеспечение встроенного интеллектуального помощника в составе РН-</a:t>
            </a:r>
            <a:r>
              <a:rPr lang="ru-RU" sz="1600" dirty="0" err="1">
                <a:latin typeface="Times New Roman" panose="02020603050405020304" pitchFamily="18" charset="0"/>
              </a:rPr>
              <a:t>Петролог</a:t>
            </a:r>
            <a:r>
              <a:rPr lang="ru-RU" sz="1600" dirty="0" smtClean="0">
                <a:latin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100"/>
              </a:spcBef>
            </a:pPr>
            <a:r>
              <a:rPr lang="ru-RU" sz="1600" dirty="0">
                <a:latin typeface="Times New Roman" panose="02020603050405020304" pitchFamily="18" charset="0"/>
              </a:rPr>
              <a:t>Реализовать механизм генерации и выполнения </a:t>
            </a:r>
            <a:r>
              <a:rPr lang="ru-RU" sz="1600" dirty="0" err="1">
                <a:latin typeface="Times New Roman" panose="02020603050405020304" pitchFamily="18" charset="0"/>
              </a:rPr>
              <a:t>Python</a:t>
            </a:r>
            <a:r>
              <a:rPr lang="ru-RU" sz="1600" dirty="0">
                <a:latin typeface="Times New Roman" panose="02020603050405020304" pitchFamily="18" charset="0"/>
              </a:rPr>
              <a:t>-скриптов для задач интерпретации</a:t>
            </a:r>
            <a:r>
              <a:rPr lang="ru-RU" sz="1600" dirty="0" smtClean="0">
                <a:latin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100"/>
              </a:spcBef>
            </a:pPr>
            <a:r>
              <a:rPr lang="ru-RU" sz="1600" dirty="0">
                <a:latin typeface="Times New Roman" panose="02020603050405020304" pitchFamily="18" charset="0"/>
              </a:rPr>
              <a:t>Провести тестирование и оценку качества ПО.</a:t>
            </a:r>
            <a:endParaRPr lang="ru-RU" sz="24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E0A2A4-23B5-46B4-AB86-529A09457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3</a:t>
            </a:fld>
            <a:endParaRPr lang="ru-RU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029E9F9-5F38-9B8B-E57A-70DE8CA5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59" y="162548"/>
            <a:ext cx="1507434" cy="3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247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49392-F9DC-484E-9A78-1AE7F3D00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48"/>
            <a:ext cx="8596668" cy="8128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Обзор существующих программных средств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50BBDED-40BF-4B80-B4CF-334AB8CE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4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823B2-B6D8-4CE1-8D73-E699C2FDCDB6}"/>
              </a:ext>
            </a:extLst>
          </p:cNvPr>
          <p:cNvSpPr txBox="1"/>
          <p:nvPr/>
        </p:nvSpPr>
        <p:spPr>
          <a:xfrm>
            <a:off x="6858000" y="4225234"/>
            <a:ext cx="51385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Планшет с интерпретированными кривыми в РН-</a:t>
            </a:r>
            <a:r>
              <a:rPr lang="ru-RU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Петролог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CDCA0-C455-4A82-BC71-B98AAF79A651}"/>
              </a:ext>
            </a:extLst>
          </p:cNvPr>
          <p:cNvSpPr txBox="1"/>
          <p:nvPr/>
        </p:nvSpPr>
        <p:spPr>
          <a:xfrm>
            <a:off x="6858000" y="4549676"/>
            <a:ext cx="53056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Причина для разработки программного решения: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решения не обеспечивают интеллектуальной поддержки геофизика в привычной среде РН-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Петролог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 понимания естественно-языковых запросов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 автоматического выбора кривых из проекта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 доступа к внешним методическим материалам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 генерации проверенного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исполняемого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кода.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029E9F9-5F38-9B8B-E57A-70DE8CA5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59" y="162548"/>
            <a:ext cx="1507434" cy="3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b="34567"/>
          <a:stretch/>
        </p:blipFill>
        <p:spPr>
          <a:xfrm>
            <a:off x="7757313" y="811252"/>
            <a:ext cx="2891638" cy="3427610"/>
          </a:xfrm>
          <a:prstGeom prst="rect">
            <a:avLst/>
          </a:prstGeom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839144"/>
              </p:ext>
            </p:extLst>
          </p:nvPr>
        </p:nvGraphicFramePr>
        <p:xfrm>
          <a:off x="104775" y="811252"/>
          <a:ext cx="6497159" cy="597625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609725">
                  <a:extLst>
                    <a:ext uri="{9D8B030D-6E8A-4147-A177-3AD203B41FA5}">
                      <a16:colId xmlns:a16="http://schemas.microsoft.com/office/drawing/2014/main" val="602874933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39908859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531016861"/>
                    </a:ext>
                  </a:extLst>
                </a:gridCol>
                <a:gridCol w="1185509">
                  <a:extLst>
                    <a:ext uri="{9D8B030D-6E8A-4147-A177-3AD203B41FA5}">
                      <a16:colId xmlns:a16="http://schemas.microsoft.com/office/drawing/2014/main" val="49434813"/>
                    </a:ext>
                  </a:extLst>
                </a:gridCol>
                <a:gridCol w="1349250">
                  <a:extLst>
                    <a:ext uri="{9D8B030D-6E8A-4147-A177-3AD203B41FA5}">
                      <a16:colId xmlns:a16="http://schemas.microsoft.com/office/drawing/2014/main" val="1924129768"/>
                    </a:ext>
                  </a:extLst>
                </a:gridCol>
              </a:tblGrid>
              <a:tr h="484086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effectLst/>
                        </a:rPr>
                        <a:t>Критерий</a:t>
                      </a:r>
                      <a:endParaRPr lang="ru-RU" sz="1200" b="1" dirty="0">
                        <a:effectLst/>
                        <a:latin typeface="quote-cjk-patch"/>
                      </a:endParaRPr>
                    </a:p>
                  </a:txBody>
                  <a:tcPr marL="43225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Techlog / Geolog</a:t>
                      </a:r>
                      <a:endParaRPr lang="en-US" sz="1200" b="1">
                        <a:effectLst/>
                        <a:latin typeface="quote-cjk-patch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TERRA (Gintel)</a:t>
                      </a:r>
                      <a:endParaRPr lang="en-US" sz="1200" b="1">
                        <a:effectLst/>
                        <a:latin typeface="quote-cjk-patch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LLM-</a:t>
                      </a:r>
                      <a:r>
                        <a:rPr lang="ru-RU" sz="1200" b="1">
                          <a:effectLst/>
                        </a:rPr>
                        <a:t>решения (</a:t>
                      </a:r>
                      <a:r>
                        <a:rPr lang="en-US" sz="1200" b="1">
                          <a:effectLst/>
                        </a:rPr>
                        <a:t>RAG)</a:t>
                      </a:r>
                      <a:endParaRPr lang="en-US" sz="1200" b="1">
                        <a:effectLst/>
                        <a:latin typeface="quote-cjk-patch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effectLst/>
                        </a:rPr>
                        <a:t>Разрабатываемое решение</a:t>
                      </a:r>
                      <a:endParaRPr lang="ru-RU" sz="1200" b="1" dirty="0">
                        <a:effectLst/>
                        <a:latin typeface="quote-cjk-patch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549006"/>
                  </a:ext>
                </a:extLst>
              </a:tr>
              <a:tr h="808760">
                <a:tc>
                  <a:txBody>
                    <a:bodyPr/>
                    <a:lstStyle/>
                    <a:p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Встроенность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 ПК интерпретации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225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kumimoji="0" lang="ru-RU" sz="3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kumimoji="0" lang="ru-RU" sz="3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3600" dirty="0">
                          <a:solidFill>
                            <a:srgbClr val="FF0000"/>
                          </a:solidFill>
                          <a:effectLst/>
                        </a:rPr>
                        <a:t>❌</a:t>
                      </a:r>
                      <a:endParaRPr lang="ru-RU" sz="3600" b="0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3600" dirty="0">
                          <a:solidFill>
                            <a:schemeClr val="accent6"/>
                          </a:solidFill>
                          <a:effectLst/>
                        </a:rPr>
                        <a:t>✅</a:t>
                      </a:r>
                      <a:endParaRPr lang="ru-RU" sz="3600" b="0" dirty="0">
                        <a:solidFill>
                          <a:schemeClr val="accent6"/>
                        </a:solidFill>
                        <a:effectLst/>
                        <a:latin typeface="quote-cjk-patch"/>
                      </a:endParaRPr>
                    </a:p>
                  </a:txBody>
                  <a:tcPr marL="72042" marR="43225" marT="45026" marB="45026" anchor="ctr">
                    <a:solidFill>
                      <a:srgbClr val="DAD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348328"/>
                  </a:ext>
                </a:extLst>
              </a:tr>
              <a:tr h="848533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Поддержка естественно-языковых запросов</a:t>
                      </a:r>
                      <a:endParaRPr lang="ru-RU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225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❌</a:t>
                      </a:r>
                      <a:endParaRPr kumimoji="0" lang="ru-RU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kumimoji="0" lang="ru-RU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kumimoji="0" lang="ru-RU" sz="3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kumimoji="0" lang="ru-RU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43225" marT="45026" marB="45026" anchor="ctr">
                    <a:solidFill>
                      <a:srgbClr val="DAD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27614"/>
                  </a:ext>
                </a:extLst>
              </a:tr>
              <a:tr h="666310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Генерация исполняемого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Python-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кода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225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❌</a:t>
                      </a:r>
                      <a:endParaRPr kumimoji="0" lang="ru-RU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kumimoji="0" lang="ru-RU" sz="3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❌</a:t>
                      </a:r>
                      <a:endParaRPr kumimoji="0" lang="ru-RU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kumimoji="0" lang="ru-RU" sz="3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43225" marT="45026" marB="45026" anchor="ctr">
                    <a:solidFill>
                      <a:srgbClr val="DAD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00630"/>
                  </a:ext>
                </a:extLst>
              </a:tr>
              <a:tr h="808760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Учёт структуры текущего проекта</a:t>
                      </a:r>
                      <a:endParaRPr lang="ru-RU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225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❌</a:t>
                      </a:r>
                      <a:endParaRPr kumimoji="0" lang="ru-RU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❌</a:t>
                      </a:r>
                      <a:endParaRPr kumimoji="0" lang="ru-RU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❌</a:t>
                      </a:r>
                      <a:endParaRPr kumimoji="0" lang="ru-RU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kumimoji="0" lang="ru-RU" sz="3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43225" marT="45026" marB="45026" anchor="ctr">
                    <a:solidFill>
                      <a:srgbClr val="DAD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287940"/>
                  </a:ext>
                </a:extLst>
              </a:tr>
              <a:tr h="848533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 релевантной информации (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RAG)</a:t>
                      </a:r>
                      <a:endParaRPr lang="en-US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225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❌</a:t>
                      </a:r>
                      <a:endParaRPr kumimoji="0" lang="ru-RU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❌</a:t>
                      </a:r>
                      <a:endParaRPr kumimoji="0" lang="ru-RU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kumimoji="0" lang="ru-RU" sz="3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kumimoji="0" lang="ru-RU" sz="3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43225" marT="45026" marB="45026" anchor="ctr">
                    <a:solidFill>
                      <a:srgbClr val="DAD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239596"/>
                  </a:ext>
                </a:extLst>
              </a:tr>
              <a:tr h="808760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Работа с пользовательскими вложениями</a:t>
                      </a:r>
                      <a:endParaRPr lang="ru-RU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225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❌</a:t>
                      </a:r>
                      <a:endParaRPr kumimoji="0" lang="ru-RU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❌</a:t>
                      </a:r>
                      <a:endParaRPr kumimoji="0" lang="ru-RU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❌</a:t>
                      </a:r>
                      <a:endParaRPr kumimoji="0" lang="ru-RU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kumimoji="0" lang="ru-RU" sz="3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43225" marT="45026" marB="45026" anchor="ctr">
                    <a:solidFill>
                      <a:srgbClr val="DAD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61809"/>
                  </a:ext>
                </a:extLst>
              </a:tr>
              <a:tr h="636480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Автоматическая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валидация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кода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225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❌</a:t>
                      </a:r>
                      <a:endParaRPr kumimoji="0" lang="ru-RU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❌</a:t>
                      </a:r>
                      <a:endParaRPr kumimoji="0" lang="ru-RU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❌</a:t>
                      </a:r>
                      <a:endParaRPr kumimoji="0" lang="ru-RU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72042" marT="45026" marB="45026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3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kumimoji="0" lang="ru-RU" sz="3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72042" marR="43225" marT="45026" marB="45026" anchor="ctr">
                    <a:solidFill>
                      <a:srgbClr val="DAD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567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1756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595926-4016-489F-BBEC-69B935579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590177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Содержательная 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81EF04-EF3A-4297-9211-CC665CCFE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704" y="852466"/>
            <a:ext cx="6895234" cy="5671425"/>
          </a:xfr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Дано:</a:t>
            </a:r>
          </a:p>
          <a:p>
            <a:pPr algn="just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скважинных данных в РН-</a:t>
            </a:r>
            <a:r>
              <a:rPr lang="ru-RU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Петролог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(скважины, </a:t>
            </a:r>
            <a:r>
              <a:rPr lang="ru-RU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датасеты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кривые, зоны</a:t>
            </a: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текстовый запрос пользователя на естественном языке</a:t>
            </a: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база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знаний (документация API, методики, примеры скриптов</a:t>
            </a: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прикреплённые пользователем файлы (PDF, DOCX, TXT</a:t>
            </a: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r>
              <a:rPr lang="ru-RU" sz="2400" b="1" dirty="0" smtClean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Требуется</a:t>
            </a:r>
            <a:r>
              <a:rPr lang="ru-RU" sz="2400" b="1" dirty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поиск релевантной информации в базе знаний и вложениях</a:t>
            </a: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структуру текущего проекта и выбрать нужные объекты</a:t>
            </a: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сформировать контекст для LLM</a:t>
            </a: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сгенерировать исполняемый </a:t>
            </a:r>
            <a:r>
              <a:rPr lang="ru-RU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-скрипт с пояснением</a:t>
            </a: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верификацию кода</a:t>
            </a: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сохранить результаты интерпретации в проект.</a:t>
            </a:r>
            <a:endParaRPr lang="ru-RU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smtClean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ru-RU" sz="2400" b="1" dirty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текстовое пояснение метода</a:t>
            </a: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исполняемый </a:t>
            </a:r>
            <a:r>
              <a:rPr lang="ru-RU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-скрипт во встроенной IDE</a:t>
            </a: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Интерпретированные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кривые (пористость, глинистость, </a:t>
            </a:r>
            <a:r>
              <a:rPr lang="ru-RU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нефтенасыщенность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коллектор) в проекте.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3384E5-00FF-4DDF-A900-F8D14C1C2DA9}"/>
              </a:ext>
            </a:extLst>
          </p:cNvPr>
          <p:cNvSpPr txBox="1"/>
          <p:nvPr/>
        </p:nvSpPr>
        <p:spPr>
          <a:xfrm>
            <a:off x="7387496" y="4048026"/>
            <a:ext cx="46090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возможности ПО:</a:t>
            </a:r>
            <a:endParaRPr lang="ru-RU" dirty="0">
              <a:solidFill>
                <a:srgbClr val="433078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приём запросов на естественном языке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загрузка пользовательских файлов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поиск релевантных фрагментов (RAG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анализ структуры проекта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генерация, верификация и выполнение </a:t>
            </a:r>
            <a:r>
              <a:rPr lang="ru-RU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-скриптов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сохранение результатов.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E2842802-2F1D-4916-8CD5-74197AD5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5</a:t>
            </a:fld>
            <a:endParaRPr lang="ru-RU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029E9F9-5F38-9B8B-E57A-70DE8CA5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59" y="162548"/>
            <a:ext cx="1507434" cy="3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667" y="667742"/>
            <a:ext cx="3936754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1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C0FC0-3BB8-4EC2-BC3A-9BE7997B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90" y="95379"/>
            <a:ext cx="11356848" cy="575322"/>
          </a:xfrm>
          <a:ln>
            <a:noFill/>
          </a:ln>
        </p:spPr>
        <p:txBody>
          <a:bodyPr>
            <a:noAutofit/>
          </a:bodyPr>
          <a:lstStyle/>
          <a:p>
            <a:r>
              <a:rPr lang="ru-RU" sz="24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Формальная постановка задачи автоматической </a:t>
            </a:r>
            <a:r>
              <a:rPr lang="ru-RU" sz="2400" b="1" dirty="0" smtClean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интерпретации</a:t>
            </a:r>
            <a:br>
              <a:rPr lang="ru-RU" sz="2400" b="1" dirty="0" smtClean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 smtClean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геофизических </a:t>
            </a:r>
            <a:r>
              <a:rPr lang="ru-RU" sz="24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исследований скважин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BDF8B505-7B5A-48D3-AAD4-E0CD3C5757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1AB70451-AAC0-4CC2-A3F6-AC00EFBEDC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5AA95586-52E6-4001-AE31-D90561A04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6</a:t>
            </a:fld>
            <a:endParaRPr lang="ru-RU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5029E9F9-5F38-9B8B-E57A-70DE8CA5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59" y="162548"/>
            <a:ext cx="1507434" cy="3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62" y="751226"/>
            <a:ext cx="11740276" cy="5970249"/>
          </a:xfrm>
          <a:prstGeom prst="rect">
            <a:avLst/>
          </a:prstGeom>
          <a:ln>
            <a:solidFill>
              <a:srgbClr val="433078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1090586" y="6400412"/>
            <a:ext cx="263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6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46713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1AE4613C-38A6-4CDC-BF03-36F73EA92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7</a:t>
            </a:fld>
            <a:endParaRPr lang="ru-RU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029E9F9-5F38-9B8B-E57A-70DE8CA5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59" y="162548"/>
            <a:ext cx="1507434" cy="3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FBC0FC0-3BB8-4EC2-BC3A-9BE7997BA337}"/>
              </a:ext>
            </a:extLst>
          </p:cNvPr>
          <p:cNvSpPr txBox="1">
            <a:spLocks/>
          </p:cNvSpPr>
          <p:nvPr/>
        </p:nvSpPr>
        <p:spPr>
          <a:xfrm>
            <a:off x="351690" y="95379"/>
            <a:ext cx="11356848" cy="57532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решения задачи автоматической интерпретации</a:t>
            </a:r>
            <a:br>
              <a:rPr lang="ru-RU" sz="24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геофизических исследований скважин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49" y="737871"/>
            <a:ext cx="11199858" cy="5983604"/>
          </a:xfrm>
          <a:prstGeom prst="rect">
            <a:avLst/>
          </a:prstGeom>
          <a:ln>
            <a:solidFill>
              <a:srgbClr val="43307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1090586" y="6400412"/>
            <a:ext cx="263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7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30163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8458-868F-4F2F-A444-A8417A390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120766" cy="593324"/>
          </a:xfrm>
        </p:spPr>
        <p:txBody>
          <a:bodyPr>
            <a:noAutofit/>
          </a:bodyPr>
          <a:lstStyle/>
          <a:p>
            <a:r>
              <a:rPr lang="ru-RU" sz="2400" b="1" dirty="0" smtClean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Общий алгоритм работы ПО</a:t>
            </a:r>
            <a:endParaRPr lang="ru-RU" sz="2400" b="1" dirty="0">
              <a:solidFill>
                <a:srgbClr val="5300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FC6F3E8-7A2C-4426-AE71-8BD303C74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8</a:t>
            </a:fld>
            <a:endParaRPr lang="ru-RU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029E9F9-5F38-9B8B-E57A-70DE8CA5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59" y="162548"/>
            <a:ext cx="1507434" cy="3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" t="10897" r="-1904" b="35411"/>
          <a:stretch/>
        </p:blipFill>
        <p:spPr>
          <a:xfrm>
            <a:off x="0" y="927152"/>
            <a:ext cx="12010106" cy="45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1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1AE4613C-38A6-4CDC-BF03-36F73EA92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9</a:t>
            </a:fld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520487-974A-48BB-83C4-30E337EF3CAC}"/>
              </a:ext>
            </a:extLst>
          </p:cNvPr>
          <p:cNvSpPr txBox="1"/>
          <p:nvPr/>
        </p:nvSpPr>
        <p:spPr>
          <a:xfrm>
            <a:off x="93873" y="791307"/>
            <a:ext cx="626296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входных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</a:p>
          <a:p>
            <a:pPr marL="457200" indent="-457200">
              <a:buFontTx/>
              <a:buAutoNum type="arabicPeriod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релевантной информации 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RAG)</a:t>
            </a:r>
            <a:endParaRPr lang="ru-RU" sz="2200" dirty="0"/>
          </a:p>
          <a:p>
            <a:pPr marL="457200" indent="-457200">
              <a:buAutoNum type="arabicPeriod"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Инспекция проекта</a:t>
            </a:r>
          </a:p>
          <a:p>
            <a:pPr marL="457200" indent="-457200">
              <a:buAutoNum type="arabicPeriod"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объектов проекта</a:t>
            </a:r>
          </a:p>
          <a:p>
            <a:pPr marL="457200" indent="-457200">
              <a:buAutoNum type="arabicPeriod"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контекста</a:t>
            </a:r>
          </a:p>
          <a:p>
            <a:pPr marL="457200" indent="-457200">
              <a:buAutoNum type="arabicPeriod"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скрипта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(LLM)</a:t>
            </a:r>
          </a:p>
          <a:p>
            <a:pPr marL="457200" indent="-457200">
              <a:buAutoNum type="arabicPeriod"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Верификация кода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и выполнение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200" dirty="0">
              <a:solidFill>
                <a:srgbClr val="433078"/>
              </a:solidFill>
            </a:endParaRP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5029E9F9-5F38-9B8B-E57A-70DE8CA5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59" y="136525"/>
            <a:ext cx="1507434" cy="3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FBC0FC0-3BB8-4EC2-BC3A-9BE7997BA337}"/>
              </a:ext>
            </a:extLst>
          </p:cNvPr>
          <p:cNvSpPr txBox="1">
            <a:spLocks/>
          </p:cNvSpPr>
          <p:nvPr/>
        </p:nvSpPr>
        <p:spPr>
          <a:xfrm>
            <a:off x="93873" y="79949"/>
            <a:ext cx="11356848" cy="57532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Этапы решения задачи автоматической </a:t>
            </a:r>
            <a:r>
              <a:rPr lang="ru-RU" sz="2400" b="1" dirty="0" smtClean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интерпретации</a:t>
            </a:r>
            <a:r>
              <a:rPr lang="en-US" sz="2400" b="1" dirty="0" smtClean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smtClean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геофизических </a:t>
            </a:r>
            <a:r>
              <a:rPr lang="ru-RU" sz="24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исследований скважин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 rotWithShape="1">
          <a:blip r:embed="rId3"/>
          <a:srcRect r="15128"/>
          <a:stretch/>
        </p:blipFill>
        <p:spPr>
          <a:xfrm>
            <a:off x="193325" y="3673588"/>
            <a:ext cx="4860649" cy="3047887"/>
          </a:xfrm>
          <a:prstGeom prst="rect">
            <a:avLst/>
          </a:prstGeom>
        </p:spPr>
      </p:pic>
      <p:sp>
        <p:nvSpPr>
          <p:cNvPr id="23" name="Стрелка вправо 22"/>
          <p:cNvSpPr/>
          <p:nvPr/>
        </p:nvSpPr>
        <p:spPr>
          <a:xfrm>
            <a:off x="5175198" y="4941502"/>
            <a:ext cx="616956" cy="434733"/>
          </a:xfrm>
          <a:prstGeom prst="rightArrow">
            <a:avLst/>
          </a:prstGeom>
          <a:solidFill>
            <a:srgbClr val="863B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Segoe UI" pitchFamily="34" charset="0"/>
              <a:cs typeface="Segoe UI" pitchFamily="34" charset="0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380" y="3676277"/>
            <a:ext cx="5094590" cy="301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68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AB1689-2DE3-4256-AD91-736528BA3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" y="438775"/>
            <a:ext cx="4473851" cy="714719"/>
          </a:xfrm>
        </p:spPr>
        <p:txBody>
          <a:bodyPr>
            <a:noAutofit/>
          </a:bodyPr>
          <a:lstStyle/>
          <a:p>
            <a:r>
              <a:rPr lang="ru-RU" sz="20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 1. Анализ </a:t>
            </a:r>
            <a:r>
              <a:rPr lang="ru-RU" sz="2000" b="1" dirty="0" smtClean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входных данных</a:t>
            </a:r>
            <a:r>
              <a:rPr lang="ru-RU" sz="1800" b="1" dirty="0" smtClean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sz="1800" b="1" dirty="0">
              <a:solidFill>
                <a:srgbClr val="5300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51656E6-4060-4707-8382-D780C50D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10</a:t>
            </a:fld>
            <a:endParaRPr lang="ru-RU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029E9F9-5F38-9B8B-E57A-70DE8CA5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59" y="162548"/>
            <a:ext cx="1507434" cy="3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73735" y="781387"/>
                <a:ext cx="5400587" cy="590931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ru-RU" b="1" dirty="0">
                    <a:solidFill>
                      <a:srgbClr val="43307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Содержание </a:t>
                </a:r>
                <a:r>
                  <a:rPr lang="ru-RU" b="1" dirty="0" smtClean="0">
                    <a:solidFill>
                      <a:srgbClr val="43307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этапа:</a:t>
                </a:r>
                <a:endParaRPr lang="ru-RU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Получение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текстового запроса пользователя на естественном языке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Загрузка прикреплённых файлов (PDF, DOCX, TXT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Получение структуры текущего проекта через API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ru-RU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b="1" dirty="0">
                    <a:solidFill>
                      <a:srgbClr val="43307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Математическое </a:t>
                </a:r>
                <a:r>
                  <a:rPr lang="ru-RU" b="1" dirty="0" smtClean="0">
                    <a:solidFill>
                      <a:srgbClr val="43307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обеспечение:</a:t>
                </a:r>
                <a:endParaRPr lang="ru-RU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Формализация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запроса как последовательности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токенов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{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₁, 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₂, …, 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ₙ}.</m:t>
                    </m:r>
                  </m:oMath>
                </a14:m>
                <a:endParaRPr lang="ru-RU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 извлечения ключевых сущностей: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→ {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₁, 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₂, …, 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ₘ}</m:t>
                    </m:r>
                  </m:oMath>
                </a14:m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ᵢ</m:t>
                    </m:r>
                  </m:oMath>
                </a14:m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типы требуемых данных (пористость, глинистость, коллектор и т.д.).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Представление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структуры проекта в виде иерархической модели: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{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множество скважин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множество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датасетов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множество кривых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множество зон.</a:t>
                </a: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5" y="781387"/>
                <a:ext cx="5400587" cy="5909310"/>
              </a:xfrm>
              <a:prstGeom prst="rect">
                <a:avLst/>
              </a:prstGeom>
              <a:blipFill>
                <a:blip r:embed="rId4"/>
                <a:stretch>
                  <a:fillRect l="-903" t="-515" r="-451" b="-6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FAB1689-2DE3-4256-AD91-736528BA39ED}"/>
              </a:ext>
            </a:extLst>
          </p:cNvPr>
          <p:cNvSpPr txBox="1">
            <a:spLocks/>
          </p:cNvSpPr>
          <p:nvPr/>
        </p:nvSpPr>
        <p:spPr>
          <a:xfrm>
            <a:off x="6109221" y="349785"/>
            <a:ext cx="5887372" cy="7147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 smtClean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 2. Поиск релевантной  информации (RAG)</a:t>
            </a:r>
            <a:endParaRPr lang="ru-RU" sz="2000" b="1" dirty="0">
              <a:solidFill>
                <a:srgbClr val="5300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Прямоугольник 11"/>
              <p:cNvSpPr/>
              <p:nvPr/>
            </p:nvSpPr>
            <p:spPr>
              <a:xfrm>
                <a:off x="6109221" y="781387"/>
                <a:ext cx="5887372" cy="5541773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ru-RU" b="1" dirty="0">
                    <a:solidFill>
                      <a:srgbClr val="43307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Содержание </a:t>
                </a:r>
                <a:r>
                  <a:rPr lang="ru-RU" b="1" dirty="0" smtClean="0">
                    <a:solidFill>
                      <a:srgbClr val="43307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этапа:</a:t>
                </a:r>
                <a:endParaRPr lang="ru-RU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Извлечение текста из базы знаний и прикреплённых файлов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Разбиение документов на фрагменты (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чангкинг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Построение векторных представлений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Поиск наиболее релевантных фрагментов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ru-RU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b="1" dirty="0" smtClean="0">
                    <a:solidFill>
                      <a:srgbClr val="43307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Математическое обеспечение:</a:t>
                </a:r>
                <a:endParaRPr lang="ru-RU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 векторизации текста: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el-GR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→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размерность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эмбеддинга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множество текстовых фрагментов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Косинусное сходство между запросом и фрагментом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ru-RU" i="1"/>
                      <m:t>𝑠𝑖𝑚</m:t>
                    </m:r>
                    <m:d>
                      <m:dPr>
                        <m:ctrlPr>
                          <a:rPr lang="ru-RU" i="1"/>
                        </m:ctrlPr>
                      </m:dPr>
                      <m:e>
                        <m:r>
                          <a:rPr lang="ru-RU" i="1"/>
                          <m:t>𝑞</m:t>
                        </m:r>
                        <m:r>
                          <a:rPr lang="ru-RU" i="1"/>
                          <m:t>, </m:t>
                        </m:r>
                        <m:sSub>
                          <m:sSubPr>
                            <m:ctrlPr>
                              <a:rPr lang="ru-RU" i="1"/>
                            </m:ctrlPr>
                          </m:sSubPr>
                          <m:e>
                            <m:r>
                              <a:rPr lang="ru-RU" i="1"/>
                              <m:t>𝑡</m:t>
                            </m:r>
                          </m:e>
                          <m:sub>
                            <m:r>
                              <a:rPr lang="ru-RU" i="1"/>
                              <m:t>𝑖</m:t>
                            </m:r>
                          </m:sub>
                        </m:sSub>
                      </m:e>
                    </m:d>
                    <m:r>
                      <a:rPr lang="ru-RU" i="1"/>
                      <m:t>= </m:t>
                    </m:r>
                    <m:f>
                      <m:fPr>
                        <m:ctrlPr>
                          <a:rPr lang="ru-RU" i="1"/>
                        </m:ctrlPr>
                      </m:fPr>
                      <m:num>
                        <m:r>
                          <a:rPr lang="ru-RU" i="1"/>
                          <m:t>𝜑</m:t>
                        </m:r>
                        <m:r>
                          <a:rPr lang="ru-RU" i="1"/>
                          <m:t>(</m:t>
                        </m:r>
                        <m:r>
                          <a:rPr lang="ru-RU" i="1"/>
                          <m:t>𝑞</m:t>
                        </m:r>
                        <m:r>
                          <a:rPr lang="ru-RU" i="1"/>
                          <m:t>)∙</m:t>
                        </m:r>
                        <m:r>
                          <a:rPr lang="ru-RU" i="1"/>
                          <m:t>𝜑</m:t>
                        </m:r>
                        <m:r>
                          <a:rPr lang="ru-RU" i="1"/>
                          <m:t>(</m:t>
                        </m:r>
                        <m:sSub>
                          <m:sSubPr>
                            <m:ctrlPr>
                              <a:rPr lang="ru-RU" i="1"/>
                            </m:ctrlPr>
                          </m:sSubPr>
                          <m:e>
                            <m:r>
                              <a:rPr lang="ru-RU" i="1"/>
                              <m:t>𝑡</m:t>
                            </m:r>
                          </m:e>
                          <m:sub>
                            <m:r>
                              <a:rPr lang="ru-RU" i="1"/>
                              <m:t>𝑖</m:t>
                            </m:r>
                          </m:sub>
                        </m:sSub>
                        <m:r>
                          <a:rPr lang="ru-RU" i="1"/>
                          <m:t>)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ru-RU" i="1"/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i="1"/>
                                </m:ctrlPr>
                              </m:dPr>
                              <m:e>
                                <m:r>
                                  <a:rPr lang="ru-RU" i="1"/>
                                  <m:t>𝜑</m:t>
                                </m:r>
                                <m:d>
                                  <m:dPr>
                                    <m:ctrlPr>
                                      <a:rPr lang="ru-RU" i="1"/>
                                    </m:ctrlPr>
                                  </m:dPr>
                                  <m:e>
                                    <m:r>
                                      <a:rPr lang="ru-RU" i="1"/>
                                      <m:t>𝑞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ru-RU" i="1"/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i="1"/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i="1"/>
                                </m:ctrlPr>
                              </m:dPr>
                              <m:e>
                                <m:r>
                                  <a:rPr lang="ru-RU" i="1"/>
                                  <m:t>𝜑</m:t>
                                </m:r>
                                <m:d>
                                  <m:dPr>
                                    <m:ctrlPr>
                                      <a:rPr lang="ru-RU" i="1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i="1"/>
                                        </m:ctrlPr>
                                      </m:sSubPr>
                                      <m:e>
                                        <m:r>
                                          <a:rPr lang="ru-RU" i="1"/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ru-RU" i="1"/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</m:den>
                    </m:f>
                  </m:oMath>
                </a14:m>
                <a:r>
                  <a:rPr lang="ru-RU" dirty="0" smtClean="0"/>
                  <a:t>.</a:t>
                </a:r>
                <a:endParaRPr lang="ru-RU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Операция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выбора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top‑k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релевантных фрагментов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⁽ᵏ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⁾ = 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𝑎𝑟𝑔𝑚𝑎𝑥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_{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ᵢ ∈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}⁽ᵏ⁾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𝑠𝑖𝑚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ᵢ)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Разбиение документа на фрагменты с перекрытием: для документа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длиной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символов, размер фрагмента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600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𝑠𝑡𝑒𝑝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 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𝑜𝑣𝑒𝑟𝑙𝑎𝑝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𝑜𝑣𝑒𝑟𝑙𝑎𝑝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150.</m:t>
                    </m:r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221" y="781387"/>
                <a:ext cx="5887372" cy="5541773"/>
              </a:xfrm>
              <a:prstGeom prst="rect">
                <a:avLst/>
              </a:prstGeom>
              <a:blipFill>
                <a:blip r:embed="rId5"/>
                <a:stretch>
                  <a:fillRect l="-828" t="-550" b="-2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98468458-868F-4F2F-A444-A8417A390F5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120766" cy="5933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 smtClean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Этапы 1 и 2</a:t>
            </a:r>
            <a:endParaRPr lang="ru-RU" sz="2400" b="1" dirty="0">
              <a:solidFill>
                <a:srgbClr val="5300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49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AB1689-2DE3-4256-AD91-736528BA3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89159" cy="714719"/>
          </a:xfrm>
        </p:spPr>
        <p:txBody>
          <a:bodyPr>
            <a:noAutofit/>
          </a:bodyPr>
          <a:lstStyle/>
          <a:p>
            <a:r>
              <a:rPr lang="ru-RU" sz="24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 3. Инспекция структуры проекта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51656E6-4060-4707-8382-D780C50D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11</a:t>
            </a:fld>
            <a:endParaRPr lang="ru-RU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029E9F9-5F38-9B8B-E57A-70DE8CA5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59" y="162548"/>
            <a:ext cx="1507434" cy="3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73735" y="781387"/>
                <a:ext cx="8303515" cy="5637569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ru-RU" sz="2000" b="1" dirty="0" smtClean="0">
                    <a:solidFill>
                      <a:srgbClr val="43307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Содержание </a:t>
                </a:r>
                <a:r>
                  <a:rPr lang="ru-RU" sz="2000" b="1" dirty="0" smtClean="0">
                    <a:solidFill>
                      <a:srgbClr val="43307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этапа:</a:t>
                </a:r>
                <a:endParaRPr lang="ru-RU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Получение списка выделенных скважин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Определение доступных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датасетов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Получение списка кривых и их атрибутов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Получение списка зон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ru-RU" sz="2000" b="1" dirty="0" smtClean="0">
                    <a:solidFill>
                      <a:srgbClr val="43307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Математическое обеспечение:</a:t>
                </a:r>
                <a:endParaRPr lang="ru-RU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Иерархическая модель проекта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{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₁,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₂, …,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ₚ}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множество скважин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{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∈ 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: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датасеты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скважины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{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₁, 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₂, …,</m:t>
                    </m:r>
                    <m:sSub>
                      <m:sSubPr>
                        <m:ctrlPr>
                          <a:rPr lang="ru-RU" i="1"/>
                        </m:ctrlPr>
                      </m:sSubPr>
                      <m:e>
                        <m:r>
                          <a:rPr lang="en-US" i="1"/>
                          <m:t>𝑣</m:t>
                        </m:r>
                      </m:e>
                      <m:sub>
                        <m:r>
                          <a:rPr lang="en-US" i="1"/>
                          <m:t>𝑞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кривые в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датасете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{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₁, 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₂, …, 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ᵣ}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зоны скважины, каждая зона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𝑡𝑜𝑝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𝑏𝑎𝑠𝑒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𝑡𝑜𝑝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&lt;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𝑏𝑎𝑠𝑒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 получения атрибутов кривой: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𝑖𝑛𝑓𝑜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𝑛𝑎𝑚𝑒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𝑓𝑎𝑚𝑖𝑙𝑦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𝑢𝑛𝑖𝑡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𝑛𝑎𝑚𝑒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имя кривой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𝑓𝑎𝑚𝑖𝑙𝑦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семейство (например, 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«Удельное сопротивление»);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𝑢𝑛𝑖𝑡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единица измерения.</a:t>
                </a: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5" y="781387"/>
                <a:ext cx="8303515" cy="5637569"/>
              </a:xfrm>
              <a:prstGeom prst="rect">
                <a:avLst/>
              </a:prstGeom>
              <a:blipFill>
                <a:blip r:embed="rId4"/>
                <a:stretch>
                  <a:fillRect l="-734" t="-541" b="-14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2314" y="667999"/>
            <a:ext cx="3099186" cy="3508348"/>
          </a:xfrm>
          <a:prstGeom prst="rect">
            <a:avLst/>
          </a:prstGeom>
        </p:spPr>
      </p:pic>
      <p:cxnSp>
        <p:nvCxnSpPr>
          <p:cNvPr id="8" name="Прямая со стрелкой 7"/>
          <p:cNvCxnSpPr/>
          <p:nvPr/>
        </p:nvCxnSpPr>
        <p:spPr>
          <a:xfrm>
            <a:off x="8346054" y="869064"/>
            <a:ext cx="8534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8610600" y="1547244"/>
            <a:ext cx="8534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9199494" y="1913004"/>
            <a:ext cx="8534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90949" y="667999"/>
            <a:ext cx="1160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скважина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73869" y="1335998"/>
            <a:ext cx="936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err="1" smtClean="0">
                <a:solidFill>
                  <a:srgbClr val="FF0000"/>
                </a:solidFill>
              </a:rPr>
              <a:t>датасет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06301" y="1709794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кривая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02313" y="4161415"/>
            <a:ext cx="30942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данных в проекте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РН-ПЕТРОЛОГ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368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55"/>
          <a:stretch/>
        </p:blipFill>
        <p:spPr>
          <a:xfrm>
            <a:off x="9099132" y="0"/>
            <a:ext cx="2028999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AB1689-2DE3-4256-AD91-736528BA3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89159" cy="714719"/>
          </a:xfrm>
        </p:spPr>
        <p:txBody>
          <a:bodyPr>
            <a:noAutofit/>
          </a:bodyPr>
          <a:lstStyle/>
          <a:p>
            <a:r>
              <a:rPr lang="ru-RU" sz="2400" b="1" dirty="0" smtClean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 4</a:t>
            </a:r>
            <a:r>
              <a:rPr lang="ru-RU" sz="24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Выбор объектов проекта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51656E6-4060-4707-8382-D780C50D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12</a:t>
            </a:fld>
            <a:endParaRPr lang="ru-RU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029E9F9-5F38-9B8B-E57A-70DE8CA5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59" y="162548"/>
            <a:ext cx="1507434" cy="3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73736" y="781387"/>
                <a:ext cx="9137318" cy="6240747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ru-RU" sz="2000" b="1" dirty="0">
                    <a:solidFill>
                      <a:srgbClr val="43307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Содержание </a:t>
                </a:r>
                <a:r>
                  <a:rPr lang="ru-RU" sz="2000" b="1" dirty="0" smtClean="0">
                    <a:solidFill>
                      <a:srgbClr val="43307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этапа:</a:t>
                </a:r>
                <a:endParaRPr lang="ru-RU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Сопоставление требуемых типов данных из запроса с реальными объектами проекта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Выбор наиболее подходящих кривых,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датасетов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зон.</a:t>
                </a:r>
              </a:p>
              <a:p>
                <a:r>
                  <a:rPr lang="ru-RU" sz="2000" b="1" dirty="0" smtClean="0">
                    <a:solidFill>
                      <a:srgbClr val="43307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Математическое обеспечение:</a:t>
                </a:r>
                <a:endParaRPr lang="ru-RU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 релевантности объекта запросу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ru-RU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ru-RU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ru-RU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ru-RU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= </m:t>
                      </m:r>
                      <m:r>
                        <a:rPr lang="ru-RU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ru-RU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₁·</m:t>
                      </m:r>
                      <m:r>
                        <a:rPr lang="ru-RU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ru-RU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ru-RU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𝑛𝑎𝑚𝑒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+ 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₂·</m:t>
                      </m:r>
                      <m:r>
                        <a:rPr lang="ru-RU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ru-RU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ru-RU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𝑓𝑎𝑚𝑖𝑙𝑦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+ 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₃·</m:t>
                      </m:r>
                      <m:r>
                        <a:rPr lang="ru-RU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ru-RU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ru-RU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𝑢𝑛𝑖𝑡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+ 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₄·</m:t>
                      </m:r>
                      <m:r>
                        <a:rPr lang="ru-RU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ru-RU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ru-RU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𝑠𝑐𝑜𝑝𝑒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ru-RU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ru-RU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где: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𝑛𝑎𝑚𝑒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мера сходства имени кривой с требуемым типом (на основе расстояния 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Левенштейна);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𝑓𝑎𝑚𝑖𝑙𝑦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индикатор совпадения семейства {1, если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family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совпадает, 0.5, если частично, 0 иначе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};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𝑢𝑛𝑖𝑡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индикатор совместимости единиц измерения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𝑠𝑐𝑜𝑝𝑒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принадлежность нужной скважине/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датасету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ᵢ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весовые коэффициенты, Σαᵢ = 1, αᵢ ≥ 0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Правило выбора наилучшего объекта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ru-RU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 = </m:t>
                      </m:r>
                      <m:r>
                        <a:rPr lang="ru-RU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𝑎𝑟𝑔𝑚𝑎𝑥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_{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∈ 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 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ru-RU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ru-RU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Пороговое условие отсутствия подходящего объекта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𝑖𝑓</m:t>
                    </m:r>
                    <m:r>
                      <a:rPr lang="ru-RU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ru-RU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ru-RU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ru-RU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∗) &lt; </m:t>
                    </m:r>
                    <m:r>
                      <a:rPr lang="ru-RU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  <m:r>
                      <a:rPr lang="ru-RU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запрос на уточнение пользователю</a:t>
                </a: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6" y="781387"/>
                <a:ext cx="9137318" cy="6240747"/>
              </a:xfrm>
              <a:prstGeom prst="rect">
                <a:avLst/>
              </a:prstGeom>
              <a:blipFill>
                <a:blip r:embed="rId5"/>
                <a:stretch>
                  <a:fillRect l="-734" t="-488" b="-7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396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AB1689-2DE3-4256-AD91-736528BA3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5741378" cy="714719"/>
          </a:xfrm>
        </p:spPr>
        <p:txBody>
          <a:bodyPr>
            <a:noAutofit/>
          </a:bodyPr>
          <a:lstStyle/>
          <a:p>
            <a:r>
              <a:rPr lang="ru-RU" sz="2400" b="1" dirty="0" smtClean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 5</a:t>
            </a:r>
            <a:r>
              <a:rPr lang="ru-RU" sz="24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Формирование расширенного контекста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51656E6-4060-4707-8382-D780C50D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13</a:t>
            </a:fld>
            <a:endParaRPr lang="ru-RU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029E9F9-5F38-9B8B-E57A-70DE8CA5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59" y="162548"/>
            <a:ext cx="1507434" cy="3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73735" y="781387"/>
                <a:ext cx="5838735" cy="562731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ru-RU" sz="2000" b="1" dirty="0">
                    <a:solidFill>
                      <a:srgbClr val="43307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Содержание </a:t>
                </a:r>
                <a:r>
                  <a:rPr lang="ru-RU" sz="2000" b="1" dirty="0" smtClean="0">
                    <a:solidFill>
                      <a:srgbClr val="43307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этапа:</a:t>
                </a:r>
                <a:endParaRPr lang="ru-RU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Объединение запроса пользователя, структуры проекта, найденных релевантных фрагментов и описания допустимых методов API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ru-RU" sz="2000" b="1" dirty="0" smtClean="0">
                    <a:solidFill>
                      <a:srgbClr val="43307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Математическое обеспечение:</a:t>
                </a:r>
                <a:endParaRPr lang="ru-RU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 агрегации контекста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𝐶𝑇𝑋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⁽ᵏ⁾, 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𝑎𝑝𝑖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пользовательский запрос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структура проекта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⁽ᵏ⁾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множество релевантных фрагментов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𝑎𝑝𝑖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множество допустимых методов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API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Формат контекста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𝐶𝑇𝑋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 [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𝑆𝑌𝑆𝑇𝐸𝑀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𝑃𝑅𝑂𝑀𝑃𝑇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 +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𝑠𝑒𝑟𝑖𝑎𝑙𝑖𝑧𝑒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+ 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𝑐𝑜𝑛𝑐𝑎𝑡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⁽ᵏ⁾) +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𝑠𝑒𝑟𝑖𝑎𝑙𝑖𝑧𝑒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𝑎𝑝𝑖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𝑠𝑒𝑟𝑖𝑎𝑙𝑖𝑧𝑒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преобразование иерархической структуры проекта в текстовое описание.</a:t>
                </a: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5" y="781387"/>
                <a:ext cx="5838735" cy="5627310"/>
              </a:xfrm>
              <a:prstGeom prst="rect">
                <a:avLst/>
              </a:prstGeom>
              <a:blipFill>
                <a:blip r:embed="rId4"/>
                <a:stretch>
                  <a:fillRect l="-1044" t="-542" r="-209" b="-9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FAB1689-2DE3-4256-AD91-736528BA39ED}"/>
              </a:ext>
            </a:extLst>
          </p:cNvPr>
          <p:cNvSpPr txBox="1">
            <a:spLocks/>
          </p:cNvSpPr>
          <p:nvPr/>
        </p:nvSpPr>
        <p:spPr>
          <a:xfrm>
            <a:off x="6012472" y="0"/>
            <a:ext cx="5741378" cy="7147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 smtClean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 6</a:t>
            </a:r>
            <a:r>
              <a:rPr lang="ru-RU" sz="24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Генерация </a:t>
            </a:r>
            <a:endParaRPr lang="ru-RU" sz="2400" b="1" dirty="0" smtClean="0">
              <a:solidFill>
                <a:srgbClr val="5300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 smtClean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исполняемого </a:t>
            </a:r>
            <a:r>
              <a:rPr lang="ru-RU" sz="24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скрипта (</a:t>
            </a:r>
            <a:r>
              <a:rPr lang="en-US" sz="24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LLM)</a:t>
            </a:r>
            <a:endParaRPr lang="ru-RU" sz="2400" b="1" dirty="0">
              <a:solidFill>
                <a:srgbClr val="5300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154615" y="876138"/>
            <a:ext cx="5841977" cy="132343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 </a:t>
            </a:r>
            <a:r>
              <a:rPr lang="ru-RU" sz="2000" b="1" dirty="0" smtClean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этапа: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Форматирование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вывода: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explanation&gt;e&lt;/explanation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&lt;code&gt;c&lt;/code&gt;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4615" y="2271417"/>
            <a:ext cx="3961476" cy="445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293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8458-868F-4F2F-A444-A8417A390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257"/>
            <a:ext cx="10120766" cy="593324"/>
          </a:xfrm>
        </p:spPr>
        <p:txBody>
          <a:bodyPr>
            <a:noAutofit/>
          </a:bodyPr>
          <a:lstStyle/>
          <a:p>
            <a:r>
              <a:rPr lang="ru-RU" sz="24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ПО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FC6F3E8-7A2C-4426-AE71-8BD303C74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13180" y="11226722"/>
            <a:ext cx="1667411" cy="190912"/>
          </a:xfrm>
        </p:spPr>
        <p:txBody>
          <a:bodyPr/>
          <a:lstStyle/>
          <a:p>
            <a:fld id="{712B9FF3-F316-408B-A4B3-007717F800E2}" type="slidenum">
              <a:rPr lang="ru-RU" smtClean="0"/>
              <a:t>14</a:t>
            </a:fld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EEA035E-DD06-4F00-9DAD-47D0EE58BFE1}"/>
              </a:ext>
            </a:extLst>
          </p:cNvPr>
          <p:cNvSpPr/>
          <p:nvPr/>
        </p:nvSpPr>
        <p:spPr>
          <a:xfrm>
            <a:off x="7822629" y="698873"/>
            <a:ext cx="4706927" cy="35455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sz="2000" b="1" dirty="0" err="1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Стэк</a:t>
            </a:r>
            <a:r>
              <a:rPr lang="ru-RU" sz="2000" b="1" dirty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технологий</a:t>
            </a:r>
            <a:r>
              <a:rPr lang="ru-RU" sz="2400" b="1" dirty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Языковая модель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GLM-4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библиотеки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0000"/>
              </a:lnSpc>
              <a:buFont typeface="Times New Roman" panose="02020603050405020304" pitchFamily="18" charset="0"/>
              <a:buChar char="₋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3.11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0000"/>
              </a:lnSpc>
              <a:buFont typeface="Times New Roman" panose="02020603050405020304" pitchFamily="18" charset="0"/>
              <a:buChar char="₋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PyQt5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0000"/>
              </a:lnSpc>
              <a:buFont typeface="Times New Roman" panose="02020603050405020304" pitchFamily="18" charset="0"/>
              <a:buChar char="₋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sentence-transformers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0000"/>
              </a:lnSpc>
              <a:buFont typeface="Times New Roman" panose="02020603050405020304" pitchFamily="18" charset="0"/>
              <a:buChar char="₋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FAISS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0000"/>
              </a:lnSpc>
              <a:buFont typeface="Times New Roman" panose="02020603050405020304" pitchFamily="18" charset="0"/>
              <a:buChar char="₋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0000"/>
              </a:lnSpc>
              <a:buFont typeface="Times New Roman" panose="02020603050405020304" pitchFamily="18" charset="0"/>
              <a:buChar char="₋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PDF2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0000"/>
              </a:lnSpc>
              <a:buFont typeface="Times New Roman" panose="02020603050405020304" pitchFamily="18" charset="0"/>
              <a:buChar char="₋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python-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docx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B6778A41-58C5-4FD4-BF1B-7A9EBF9F4F6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C021B1-45CF-4D81-ABDA-99D64807A0D1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1026" name="Picture 2" descr="File:Python-logo-notext.svg - Wikimedia Commons">
            <a:extLst>
              <a:ext uri="{FF2B5EF4-FFF2-40B4-BE49-F238E27FC236}">
                <a16:creationId xmlns:a16="http://schemas.microsoft.com/office/drawing/2014/main" id="{FE45A388-0766-479E-8554-F0F44DA11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3340" y="3080261"/>
            <a:ext cx="1448816" cy="144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06BDC870-4CCE-4A7B-88C6-D85E9C0FAE04}"/>
              </a:ext>
            </a:extLst>
          </p:cNvPr>
          <p:cNvSpPr txBox="1">
            <a:spLocks/>
          </p:cNvSpPr>
          <p:nvPr/>
        </p:nvSpPr>
        <p:spPr>
          <a:xfrm>
            <a:off x="303394" y="4569997"/>
            <a:ext cx="6593926" cy="2776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входных </a:t>
            </a:r>
            <a:r>
              <a:rPr lang="en-US" sz="2000" b="1" dirty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 </a:t>
            </a:r>
            <a:r>
              <a:rPr lang="ru-RU" sz="2000" b="1" dirty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BA92438-08A4-4177-92F2-D22F3BAF6C62}"/>
              </a:ext>
            </a:extLst>
          </p:cNvPr>
          <p:cNvSpPr txBox="1">
            <a:spLocks/>
          </p:cNvSpPr>
          <p:nvPr/>
        </p:nvSpPr>
        <p:spPr>
          <a:xfrm>
            <a:off x="303394" y="740666"/>
            <a:ext cx="6593926" cy="2776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и методы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5029E9F9-5F38-9B8B-E57A-70DE8CA5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59" y="162548"/>
            <a:ext cx="1507434" cy="3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l="27584" t="35089" r="26793" b="36871"/>
          <a:stretch/>
        </p:blipFill>
        <p:spPr>
          <a:xfrm>
            <a:off x="10193890" y="4655379"/>
            <a:ext cx="1738266" cy="1068310"/>
          </a:xfrm>
          <a:prstGeom prst="rect">
            <a:avLst/>
          </a:prstGeom>
        </p:spPr>
      </p:pic>
      <p:pic>
        <p:nvPicPr>
          <p:cNvPr id="2052" name="Picture 4" descr="Файл:NumPy logo 2020.svg — Википедия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222" y="5509782"/>
            <a:ext cx="2411979" cy="1085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0412" y="4672819"/>
            <a:ext cx="1237855" cy="1237855"/>
          </a:xfrm>
          <a:prstGeom prst="rect">
            <a:avLst/>
          </a:prstGeom>
        </p:spPr>
      </p:pic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831903"/>
              </p:ext>
            </p:extLst>
          </p:nvPr>
        </p:nvGraphicFramePr>
        <p:xfrm>
          <a:off x="323283" y="1148916"/>
          <a:ext cx="7306242" cy="34268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34763">
                  <a:extLst>
                    <a:ext uri="{9D8B030D-6E8A-4147-A177-3AD203B41FA5}">
                      <a16:colId xmlns:a16="http://schemas.microsoft.com/office/drawing/2014/main" val="3155753546"/>
                    </a:ext>
                  </a:extLst>
                </a:gridCol>
                <a:gridCol w="3671479">
                  <a:extLst>
                    <a:ext uri="{9D8B030D-6E8A-4147-A177-3AD203B41FA5}">
                      <a16:colId xmlns:a16="http://schemas.microsoft.com/office/drawing/2014/main" val="2843101262"/>
                    </a:ext>
                  </a:extLst>
                </a:gridCol>
              </a:tblGrid>
              <a:tr h="205841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u="none" strike="noStrike" dirty="0">
                          <a:effectLst/>
                        </a:rPr>
                        <a:t>Название метода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u="none" strike="noStrike" dirty="0">
                          <a:effectLst/>
                        </a:rPr>
                        <a:t>Описание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7988565"/>
                  </a:ext>
                </a:extLst>
              </a:tr>
              <a:tr h="20584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process_user_query(query, attachments)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Основной обработчик запроса пользователя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09312289"/>
                  </a:ext>
                </a:extLst>
              </a:tr>
              <a:tr h="20584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extract_text_from_pdf(file_path)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Извлечение текста из </a:t>
                      </a:r>
                      <a:r>
                        <a:rPr lang="en-US" sz="1200" u="none" strike="noStrike">
                          <a:effectLst/>
                        </a:rPr>
                        <a:t>PDF-</a:t>
                      </a:r>
                      <a:r>
                        <a:rPr lang="ru-RU" sz="1200" u="none" strike="noStrike">
                          <a:effectLst/>
                        </a:rPr>
                        <a:t>файла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8292567"/>
                  </a:ext>
                </a:extLst>
              </a:tr>
              <a:tr h="20584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extract_text_from_docx(file_path)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Извлечение текста из </a:t>
                      </a:r>
                      <a:r>
                        <a:rPr lang="en-US" sz="1200" u="none" strike="noStrike">
                          <a:effectLst/>
                        </a:rPr>
                        <a:t>DOCX-</a:t>
                      </a:r>
                      <a:r>
                        <a:rPr lang="ru-RU" sz="1200" u="none" strike="noStrike">
                          <a:effectLst/>
                        </a:rPr>
                        <a:t>файла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22321820"/>
                  </a:ext>
                </a:extLst>
              </a:tr>
              <a:tr h="20584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split_into_chunks(text, chunk_size, overlap)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Разбиение текста на фрагменты с перекрытием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96660823"/>
                  </a:ext>
                </a:extLst>
              </a:tr>
              <a:tr h="20584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vectorize_text(text)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Построение векторного представления текста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3954825"/>
                  </a:ext>
                </a:extLst>
              </a:tr>
              <a:tr h="20584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search_relevant_fragments(query_vector, top_k)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Поиск top-k релевантных фрагментов в FAISS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59810586"/>
                  </a:ext>
                </a:extLst>
              </a:tr>
              <a:tr h="3754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inspect_project</a:t>
                      </a:r>
                      <a:r>
                        <a:rPr lang="en-US" sz="1200" u="none" strike="noStrike" dirty="0">
                          <a:effectLst/>
                        </a:rPr>
                        <a:t>()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Получение структуры текущего проекта (скважины, датасеты, кривые)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1717637"/>
                  </a:ext>
                </a:extLst>
              </a:tr>
              <a:tr h="3754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compute_relevance(type, curve)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Вычисление функции релевантности J(t, v) для выбора кривой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98289766"/>
                  </a:ext>
                </a:extLst>
              </a:tr>
              <a:tr h="20584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build_context(query, project, fragments, api_methods)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Формирование расширенного контекста </a:t>
                      </a:r>
                      <a:r>
                        <a:rPr lang="en-US" sz="1200" u="none" strike="noStrike" dirty="0">
                          <a:effectLst/>
                        </a:rPr>
                        <a:t>CTX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5639971"/>
                  </a:ext>
                </a:extLst>
              </a:tr>
              <a:tr h="20584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generate_script(context)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Генерация пояснения и кода через LLM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2736278"/>
                  </a:ext>
                </a:extLst>
              </a:tr>
              <a:tr h="20584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verify_code(code)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Верификация сгенерированного </a:t>
                      </a:r>
                      <a:r>
                        <a:rPr lang="en-US" sz="1200" u="none" strike="noStrike">
                          <a:effectLst/>
                        </a:rPr>
                        <a:t>Python-</a:t>
                      </a:r>
                      <a:r>
                        <a:rPr lang="ru-RU" sz="1200" u="none" strike="noStrike">
                          <a:effectLst/>
                        </a:rPr>
                        <a:t>скрипта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8012291"/>
                  </a:ext>
                </a:extLst>
              </a:tr>
              <a:tr h="20584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execute_script(code, project_context)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Выполнение скрипта в контексте проекта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9904550"/>
                  </a:ext>
                </a:extLst>
              </a:tr>
              <a:tr h="20584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save_curve_to_project(curve_data, dataset, name)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Сохранение интерпретационной кривой в проект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60667101"/>
                  </a:ext>
                </a:extLst>
              </a:tr>
              <a:tr h="20584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log_error(error_message, trace)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 err="1">
                          <a:effectLst/>
                        </a:rPr>
                        <a:t>Логирование</a:t>
                      </a:r>
                      <a:r>
                        <a:rPr lang="ru-RU" sz="1200" u="none" strike="noStrike" dirty="0">
                          <a:effectLst/>
                        </a:rPr>
                        <a:t> ошибок выполнения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26162989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818737"/>
              </p:ext>
            </p:extLst>
          </p:nvPr>
        </p:nvGraphicFramePr>
        <p:xfrm>
          <a:off x="323283" y="4978245"/>
          <a:ext cx="7306242" cy="17867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7446">
                  <a:extLst>
                    <a:ext uri="{9D8B030D-6E8A-4147-A177-3AD203B41FA5}">
                      <a16:colId xmlns:a16="http://schemas.microsoft.com/office/drawing/2014/main" val="2514422814"/>
                    </a:ext>
                  </a:extLst>
                </a:gridCol>
                <a:gridCol w="2465871">
                  <a:extLst>
                    <a:ext uri="{9D8B030D-6E8A-4147-A177-3AD203B41FA5}">
                      <a16:colId xmlns:a16="http://schemas.microsoft.com/office/drawing/2014/main" val="807660788"/>
                    </a:ext>
                  </a:extLst>
                </a:gridCol>
                <a:gridCol w="3632925">
                  <a:extLst>
                    <a:ext uri="{9D8B030D-6E8A-4147-A177-3AD203B41FA5}">
                      <a16:colId xmlns:a16="http://schemas.microsoft.com/office/drawing/2014/main" val="1308713136"/>
                    </a:ext>
                  </a:extLst>
                </a:gridCol>
              </a:tblGrid>
              <a:tr h="216963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u="none" strike="noStrike" dirty="0">
                          <a:effectLst/>
                        </a:rPr>
                        <a:t>Ключ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u="none" strike="noStrike">
                          <a:effectLst/>
                        </a:rPr>
                        <a:t>Тип значения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u="none" strike="noStrike" dirty="0">
                          <a:effectLst/>
                        </a:rPr>
                        <a:t>Описание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extLst>
                  <a:ext uri="{0D108BD9-81ED-4DB2-BD59-A6C34878D82A}">
                    <a16:rowId xmlns:a16="http://schemas.microsoft.com/office/drawing/2014/main" val="63325293"/>
                  </a:ext>
                </a:extLst>
              </a:tr>
              <a:tr h="21696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query_text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string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Текст запроса пользователя на естественном языке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extLst>
                  <a:ext uri="{0D108BD9-81ED-4DB2-BD59-A6C34878D82A}">
                    <a16:rowId xmlns:a16="http://schemas.microsoft.com/office/drawing/2014/main" val="860177290"/>
                  </a:ext>
                </a:extLst>
              </a:tr>
              <a:tr h="21696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attachments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[ { filename: string, content: string }, ... 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Массив прикреплённых файлов с их содержимым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extLst>
                  <a:ext uri="{0D108BD9-81ED-4DB2-BD59-A6C34878D82A}">
                    <a16:rowId xmlns:a16="http://schemas.microsoft.com/office/drawing/2014/main" val="2751996588"/>
                  </a:ext>
                </a:extLst>
              </a:tr>
              <a:tr h="21696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selected_wells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[ string, ... 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Список выделенных пользователем скважин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extLst>
                  <a:ext uri="{0D108BD9-81ED-4DB2-BD59-A6C34878D82A}">
                    <a16:rowId xmlns:a16="http://schemas.microsoft.com/office/drawing/2014/main" val="2066592456"/>
                  </a:ext>
                </a:extLst>
              </a:tr>
              <a:tr h="38146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target_dataset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string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Целевой датасет для сохранения результатов (опционально)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extLst>
                  <a:ext uri="{0D108BD9-81ED-4DB2-BD59-A6C34878D82A}">
                    <a16:rowId xmlns:a16="http://schemas.microsoft.com/office/drawing/2014/main" val="3810725071"/>
                  </a:ext>
                </a:extLst>
              </a:tr>
              <a:tr h="38146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parameters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{ key: value, ... }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Дополнительные параметры расчёта (например, пороговые значения)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7" marR="7137" marT="7137" marB="0" anchor="b"/>
                </a:tc>
                <a:extLst>
                  <a:ext uri="{0D108BD9-81ED-4DB2-BD59-A6C34878D82A}">
                    <a16:rowId xmlns:a16="http://schemas.microsoft.com/office/drawing/2014/main" val="2587276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22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D46FAF-7885-46EF-8B84-ACFE5220D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481"/>
            <a:ext cx="9859055" cy="549938"/>
          </a:xfrm>
        </p:spPr>
        <p:txBody>
          <a:bodyPr>
            <a:normAutofit/>
          </a:bodyPr>
          <a:lstStyle/>
          <a:p>
            <a:r>
              <a:rPr lang="ru-RU" sz="24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программы: демонстрация работы пользователя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99A5E84-3765-4266-95C6-DDD98AEE1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15</a:t>
            </a:fld>
            <a:endParaRPr lang="ru-RU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029E9F9-5F38-9B8B-E57A-70DE8CA5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59" y="162548"/>
            <a:ext cx="1507434" cy="3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06855"/>
            <a:ext cx="10911840" cy="42278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198" y="505450"/>
            <a:ext cx="10704322" cy="34583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56" y="527265"/>
            <a:ext cx="11292205" cy="321088"/>
          </a:xfrm>
          <a:prstGeom prst="rect">
            <a:avLst/>
          </a:prstGeom>
        </p:spPr>
      </p:pic>
      <p:pic>
        <p:nvPicPr>
          <p:cNvPr id="10" name="Демонстрация_2 работы ИИ помощника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49474" y="726839"/>
            <a:ext cx="11852030" cy="592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1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D46FAF-7885-46EF-8B84-ACFE5220D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449519" cy="549938"/>
          </a:xfrm>
        </p:spPr>
        <p:txBody>
          <a:bodyPr>
            <a:normAutofit/>
          </a:bodyPr>
          <a:lstStyle/>
          <a:p>
            <a:r>
              <a:rPr lang="ru-RU" sz="24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вычислительного эксперимента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8400605-E81F-486E-A3FA-E91FD117B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207" y="5516629"/>
            <a:ext cx="11559585" cy="12048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b="1" dirty="0">
                <a:solidFill>
                  <a:srgbClr val="433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Обозначения: </a:t>
            </a:r>
            <a:endParaRPr lang="en-US" sz="1800" b="1" dirty="0">
              <a:solidFill>
                <a:srgbClr val="43307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количество скважин, для которых выполняется расчёт (пористость, глинистость,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нефтенасыщенность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Значения внутри ячеек – время, затраченное на выполнение задачи с помощью разработанного ПО.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E83CF2B5-7682-4A25-86F9-DC3DF528F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161754"/>
              </p:ext>
            </p:extLst>
          </p:nvPr>
        </p:nvGraphicFramePr>
        <p:xfrm>
          <a:off x="517236" y="3172727"/>
          <a:ext cx="10672892" cy="214055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129787">
                  <a:extLst>
                    <a:ext uri="{9D8B030D-6E8A-4147-A177-3AD203B41FA5}">
                      <a16:colId xmlns:a16="http://schemas.microsoft.com/office/drawing/2014/main" val="3078286019"/>
                    </a:ext>
                  </a:extLst>
                </a:gridCol>
                <a:gridCol w="2519792">
                  <a:extLst>
                    <a:ext uri="{9D8B030D-6E8A-4147-A177-3AD203B41FA5}">
                      <a16:colId xmlns:a16="http://schemas.microsoft.com/office/drawing/2014/main" val="4242548350"/>
                    </a:ext>
                  </a:extLst>
                </a:gridCol>
                <a:gridCol w="2415881">
                  <a:extLst>
                    <a:ext uri="{9D8B030D-6E8A-4147-A177-3AD203B41FA5}">
                      <a16:colId xmlns:a16="http://schemas.microsoft.com/office/drawing/2014/main" val="2614104721"/>
                    </a:ext>
                  </a:extLst>
                </a:gridCol>
                <a:gridCol w="2607432">
                  <a:extLst>
                    <a:ext uri="{9D8B030D-6E8A-4147-A177-3AD203B41FA5}">
                      <a16:colId xmlns:a16="http://schemas.microsoft.com/office/drawing/2014/main" val="2945059648"/>
                    </a:ext>
                  </a:extLst>
                </a:gridCol>
              </a:tblGrid>
              <a:tr h="700291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Параметр алгоритма</a:t>
                      </a:r>
                      <a:endParaRPr lang="ru-RU" sz="1800" kern="12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Ручной способ</a:t>
                      </a:r>
                    </a:p>
                  </a:txBody>
                  <a:tcPr marL="0" marR="0" marT="0" marB="0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Автоматический</a:t>
                      </a:r>
                    </a:p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способ</a:t>
                      </a:r>
                      <a:endParaRPr lang="ru-RU" sz="1800" kern="12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DAD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Полуавтоматический</a:t>
                      </a:r>
                    </a:p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способ</a:t>
                      </a:r>
                    </a:p>
                  </a:txBody>
                  <a:tcPr marL="0" marR="0" marT="0" marB="0" anchor="ctr">
                    <a:solidFill>
                      <a:srgbClr val="DAD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236642"/>
                  </a:ext>
                </a:extLst>
              </a:tr>
              <a:tr h="439197">
                <a:tc>
                  <a:txBody>
                    <a:bodyPr/>
                    <a:lstStyle/>
                    <a:p>
                      <a:pPr lvl="0" indent="45021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ru-RU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</a:t>
                      </a: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800" kern="12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-2</a:t>
                      </a:r>
                      <a:r>
                        <a:rPr lang="en-US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kern="12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минут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kern="12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минуты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5-10 минут</a:t>
                      </a:r>
                      <a:endParaRPr lang="ru-RU" sz="1800" kern="12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27440358"/>
                  </a:ext>
                </a:extLst>
              </a:tr>
              <a:tr h="439197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= 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800" kern="12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40</a:t>
                      </a:r>
                      <a:r>
                        <a:rPr lang="ru-RU" sz="1800" b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-50 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минут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-3 </a:t>
                      </a:r>
                      <a:r>
                        <a:rPr lang="ru-RU" sz="1800" kern="12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минуты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15-20 </a:t>
                      </a:r>
                      <a:r>
                        <a:rPr lang="ru-RU" sz="1800" kern="12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минут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24336319"/>
                  </a:ext>
                </a:extLst>
              </a:tr>
              <a:tr h="439197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= 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kern="12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.5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-2 </a:t>
                      </a:r>
                      <a:r>
                        <a:rPr lang="ru-RU" sz="1800" kern="12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часа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3-4 </a:t>
                      </a:r>
                      <a:r>
                        <a:rPr lang="ru-RU" sz="1800" kern="12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минуты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25-30 </a:t>
                      </a:r>
                      <a:r>
                        <a:rPr lang="ru-RU" sz="1800" kern="12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минут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93408658"/>
                  </a:ext>
                </a:extLst>
              </a:tr>
            </a:tbl>
          </a:graphicData>
        </a:graphic>
      </p:graphicFrame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791AE7E1-9674-4BDB-B1E3-614063BF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16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2CD6A-E8BE-2667-A3AB-5C1F4CA870A2}"/>
              </a:ext>
            </a:extLst>
          </p:cNvPr>
          <p:cNvSpPr txBox="1"/>
          <p:nvPr/>
        </p:nvSpPr>
        <p:spPr>
          <a:xfrm>
            <a:off x="316207" y="1345171"/>
            <a:ext cx="114598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Способы выполнения интерпретационных задач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Ручной способ – написание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-скрипта вручную без использования ИИ-помощника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Автоматический способ – интеллектуальный помощник генерирует код по запросу, пользователь запускает его без изменений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Полуавтоматический способ – ИИ-помощник генерирует код, пользователь просматривает и при необходимости корректирует перед запуском.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5029E9F9-5F38-9B8B-E57A-70DE8CA5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59" y="162548"/>
            <a:ext cx="1507434" cy="3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2611" y="637285"/>
            <a:ext cx="111021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Разработанное ПО требует первоначальной подготовки базы знаний (документация API, методики, 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скриптов), в среднем это занимает 30-40 минут.</a:t>
            </a:r>
          </a:p>
        </p:txBody>
      </p:sp>
    </p:spTree>
    <p:extLst>
      <p:ext uri="{BB962C8B-B14F-4D97-AF65-F5344CB8AC3E}">
        <p14:creationId xmlns:p14="http://schemas.microsoft.com/office/powerpoint/2010/main" val="2757375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D46FAF-7885-46EF-8B84-ACFE5220D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90" y="83127"/>
            <a:ext cx="8596668" cy="549938"/>
          </a:xfrm>
        </p:spPr>
        <p:txBody>
          <a:bodyPr>
            <a:normAutofit/>
          </a:bodyPr>
          <a:lstStyle/>
          <a:p>
            <a:r>
              <a:rPr lang="ru-RU" sz="24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ВКР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C47414-336D-4F11-90F2-F35AAFB20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90" y="549504"/>
            <a:ext cx="11892685" cy="593446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Ключевые результаты выпускной квалификационной работы</a:t>
            </a:r>
            <a:r>
              <a:rPr lang="ru-RU" sz="1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6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работе проведен анализ предметной области интерпретации геофизических исследований скважин и аналитический обзор существующих программных решений. Проведенный системный анализ показал, что задача автоматической интерпретации ГИС является актуальной. Аналитический обзор показал, что существующие решения либо не поддерживают естественно-языковые запросы, либо не интегрированы в промышленные комплексы интерпретации. На основе проведенного анализа автором были сформулированы содержательная и формальная задачи, которая глобально делится на три этапа – поиск релевантной информации, инспекцию проекта и генерацию кода</a:t>
            </a:r>
            <a:r>
              <a:rPr lang="ru-RU" sz="16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Автором разработано математическое обеспечение. Разработанное математическое обеспечение включает математическую постановку задачи, формализацию структуры проекта, функцию релевантности для выбора объектов и математическую модель RAG-подсистемы на основе векторного представления и косинусного сходства. Для решения задачи генерации кода использована LLM GLM-4 с </a:t>
            </a:r>
            <a:r>
              <a:rPr lang="ru-RU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многоагентной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архитектурой</a:t>
            </a:r>
            <a:r>
              <a:rPr lang="ru-RU" sz="16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Разработано программное решение встроенного интеллектуального помощника в приложение РН-ПЕТРОЛОГ. Обоснован выбор </a:t>
            </a:r>
            <a:r>
              <a:rPr lang="ru-RU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3.11 и </a:t>
            </a:r>
            <a:r>
              <a:rPr lang="ru-RU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Использованы библиотеки: PyQt5, GLM-4, </a:t>
            </a:r>
            <a:r>
              <a:rPr lang="ru-RU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sentence-transformers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FAISS, </a:t>
            </a:r>
            <a:r>
              <a:rPr lang="ru-RU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PyPDF2, </a:t>
            </a:r>
            <a:r>
              <a:rPr lang="ru-RU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python-docx</a:t>
            </a:r>
            <a:r>
              <a:rPr lang="ru-RU" sz="16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Приведены результаты тестирования. В ходе проверки установлено, что разработанное ПО успешно выполняет поставленные задачи: анализирует запросы, ищет релевантные фрагменты, инспектирует проект, генерирует </a:t>
            </a:r>
            <a:r>
              <a:rPr lang="ru-RU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-скрипты для расчёта пористости, глинистости, </a:t>
            </a:r>
            <a:r>
              <a:rPr lang="ru-RU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нефтенасыщенности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выделения коллекторов.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BDEB82-5BEF-4495-87CB-E544150A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17</a:t>
            </a:fld>
            <a:endParaRPr lang="ru-RU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029E9F9-5F38-9B8B-E57A-70DE8CA5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59" y="162548"/>
            <a:ext cx="1507434" cy="3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859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D46FAF-7885-46EF-8B84-ACFE5220D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458" y="2725806"/>
            <a:ext cx="5609084" cy="1406387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5300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BDEB82-5BEF-4495-87CB-E544150A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9FF3-F316-408B-A4B3-007717F800E2}" type="slidenum">
              <a:rPr lang="ru-RU" smtClean="0"/>
              <a:t>18</a:t>
            </a:fld>
            <a:endParaRPr lang="ru-RU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2C959B5-9994-F6BC-A78C-DF1E341DB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59" y="162548"/>
            <a:ext cx="1507434" cy="3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4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2973</TotalTime>
  <Words>2099</Words>
  <Application>Microsoft Office PowerPoint</Application>
  <PresentationFormat>Широкоэкранный</PresentationFormat>
  <Paragraphs>326</Paragraphs>
  <Slides>18</Slides>
  <Notes>6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quote-cjk-patch</vt:lpstr>
      <vt:lpstr>Segoe UI</vt:lpstr>
      <vt:lpstr>Tahoma</vt:lpstr>
      <vt:lpstr>Times New Roman</vt:lpstr>
      <vt:lpstr>Wingdings</vt:lpstr>
      <vt:lpstr>Wingdings 3</vt:lpstr>
      <vt:lpstr>Тема Office</vt:lpstr>
      <vt:lpstr>Математическое и программное обеспечение для автоматической интерпретации геофизических исследований скважин</vt:lpstr>
      <vt:lpstr>Презентация PowerPoint</vt:lpstr>
      <vt:lpstr>Цели и задачи работы</vt:lpstr>
      <vt:lpstr>Обзор существующих программных средств</vt:lpstr>
      <vt:lpstr>Содержательная постановка задачи</vt:lpstr>
      <vt:lpstr>Формальная постановка задачи автоматической интерпретации геофизических исследований скважин</vt:lpstr>
      <vt:lpstr>Презентация PowerPoint</vt:lpstr>
      <vt:lpstr>Общий алгоритм работы ПО</vt:lpstr>
      <vt:lpstr>Презентация PowerPoint</vt:lpstr>
      <vt:lpstr>Этап 1. Анализ входных данных </vt:lpstr>
      <vt:lpstr>Этап 3. Инспекция структуры проекта</vt:lpstr>
      <vt:lpstr>Этап 4. Выбор объектов проекта</vt:lpstr>
      <vt:lpstr>Этап 5. Формирование расширенного контекста</vt:lpstr>
      <vt:lpstr>Структура ПО</vt:lpstr>
      <vt:lpstr>Интерфейс программы: демонстрация работы пользователя</vt:lpstr>
      <vt:lpstr>Результаты вычислительного эксперимента</vt:lpstr>
      <vt:lpstr>Результаты ВКР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Программное обеспечение для задачи построения маршрутов для практических занятий курсантов автошколы</dc:title>
  <dc:creator>Артур Гафаров</dc:creator>
  <cp:lastModifiedBy>User</cp:lastModifiedBy>
  <cp:revision>328</cp:revision>
  <dcterms:created xsi:type="dcterms:W3CDTF">2021-06-03T11:25:42Z</dcterms:created>
  <dcterms:modified xsi:type="dcterms:W3CDTF">2026-05-28T10:57:05Z</dcterms:modified>
</cp:coreProperties>
</file>